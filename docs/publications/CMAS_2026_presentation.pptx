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presentation.xml" ContentType="application/vnd.openxmlformats-officedocument.presentationml.presentation.main+xml"/>
  <Override PartName="/ppt/notesMasters/notesMaster1.xml" ContentType="application/vnd.openxmlformats-officedocument.presentationml.notesMaster+xml"/>
  <Override PartName="/ppt/media/image7.tif" ContentType="image/tiff"/>
  <Override PartName="/ppt/media/image2.gif" ContentType="image/gif"/>
  <Override PartName="/ppt/media/image8.bmp" ContentType="image/bmp"/>
  <Override PartName="/ppt/media/image10.emf" ContentType="image/x-emf"/>
  <Override PartName="/ppt/media/image9.emf" ContentType="image/x-emf"/>
  <Override PartName="/ppt/media/image11.tif" ContentType="image/tiff"/>
  <Override PartName="/ppt/media/image15.gif" ContentType="image/gif"/>
  <Override PartName="/ppt/media/image16.gif" ContentType="image/gif"/>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Lst>
  <p:sldSz cx="10080625" cy="5670550"/>
  <p:notesSz cx="7772400" cy="100584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3.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 name="PlaceHolder 1"/>
          <p:cNvSpPr>
            <a:spLocks noGrp="1"/>
          </p:cNvSpPr>
          <p:nvPr>
            <p:ph type="sldImg"/>
          </p:nvPr>
        </p:nvSpPr>
        <p:spPr>
          <a:xfrm>
            <a:off x="216000" y="812520"/>
            <a:ext cx="7127280" cy="4008960"/>
          </a:xfrm>
          <a:prstGeom prst="rect">
            <a:avLst/>
          </a:prstGeom>
          <a:noFill/>
          <a:ln w="0">
            <a:noFill/>
          </a:ln>
        </p:spPr>
        <p:txBody>
          <a:bodyPr lIns="0" tIns="0" rIns="0" bIns="0" anchor="ctr">
            <a:noAutofit/>
          </a:bodyPr>
          <a:p>
            <a:pPr algn="ctr">
              <a:tabLst>
                <a:tab pos="0" algn="l"/>
              </a:tabLst>
            </a:pPr>
            <a:r>
              <a:rPr lang="pl-PL" sz="4400" b="0" u="none" strike="noStrike">
                <a:solidFill>
                  <a:srgbClr val="000000"/>
                </a:solidFill>
                <a:effectLst/>
                <a:uFillTx/>
                <a:latin typeface="Arial"/>
              </a:rPr>
              <a:t>Click to move the slide</a:t>
            </a:r>
            <a:endParaRPr lang="pl-PL" sz="4400" b="0" u="none" strike="noStrike">
              <a:solidFill>
                <a:srgbClr val="000000"/>
              </a:solidFill>
              <a:effectLst/>
              <a:uFillTx/>
              <a:latin typeface="Arial"/>
            </a:endParaRPr>
          </a:p>
        </p:txBody>
      </p:sp>
      <p:sp>
        <p:nvSpPr>
          <p:cNvPr id="15"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p>
            <a:pPr indent="0" algn="l">
              <a:buNone/>
            </a:pPr>
            <a:r>
              <a:rPr lang="pl-PL" sz="2000" b="0" u="none" strike="noStrike">
                <a:solidFill>
                  <a:srgbClr val="000000"/>
                </a:solidFill>
                <a:effectLst/>
                <a:uFillTx/>
                <a:latin typeface="Arial"/>
              </a:rPr>
              <a:t>Click to edit the notes format</a:t>
            </a:r>
            <a:endParaRPr lang="pl-PL" sz="2000" b="0" u="none" strike="noStrike">
              <a:solidFill>
                <a:srgbClr val="000000"/>
              </a:solidFill>
              <a:effectLst/>
              <a:uFillTx/>
              <a:latin typeface="Arial"/>
            </a:endParaRPr>
          </a:p>
        </p:txBody>
      </p:sp>
      <p:sp>
        <p:nvSpPr>
          <p:cNvPr id="16" name="PlaceHolder 3"/>
          <p:cNvSpPr>
            <a:spLocks noGrp="1"/>
          </p:cNvSpPr>
          <p:nvPr>
            <p:ph type="hdr"/>
          </p:nvPr>
        </p:nvSpPr>
        <p:spPr>
          <a:xfrm>
            <a:off x="0" y="0"/>
            <a:ext cx="3280680" cy="534240"/>
          </a:xfrm>
          <a:prstGeom prst="rect">
            <a:avLst/>
          </a:prstGeom>
          <a:noFill/>
          <a:ln w="0">
            <a:noFill/>
          </a:ln>
        </p:spPr>
        <p:txBody>
          <a:bodyPr lIns="0" tIns="0" rIns="0" bIns="0" anchor="t">
            <a:noAutofit/>
          </a:bodyPr>
          <a:p>
            <a:pPr indent="0" algn="l">
              <a:buNone/>
            </a:pPr>
            <a:r>
              <a:rPr lang="pl-PL" sz="1400" b="0" u="none" strike="noStrike">
                <a:solidFill>
                  <a:srgbClr val="000000"/>
                </a:solidFill>
                <a:effectLst/>
                <a:uFillTx/>
                <a:latin typeface="Times New Roman"/>
              </a:rPr>
              <a:t>&lt;header&gt;</a:t>
            </a:r>
            <a:endParaRPr lang="pl-PL" sz="1400" b="0" u="none" strike="noStrike">
              <a:solidFill>
                <a:srgbClr val="000000"/>
              </a:solidFill>
              <a:effectLst/>
              <a:uFillTx/>
              <a:latin typeface="Times New Roman"/>
            </a:endParaRPr>
          </a:p>
        </p:txBody>
      </p:sp>
      <p:sp>
        <p:nvSpPr>
          <p:cNvPr id="17" name="PlaceHolder 4"/>
          <p:cNvSpPr>
            <a:spLocks noGrp="1"/>
          </p:cNvSpPr>
          <p:nvPr>
            <p:ph type="dt" idx="7"/>
          </p:nvPr>
        </p:nvSpPr>
        <p:spPr>
          <a:xfrm>
            <a:off x="4278960" y="0"/>
            <a:ext cx="3280680" cy="534240"/>
          </a:xfrm>
          <a:prstGeom prst="rect">
            <a:avLst/>
          </a:prstGeom>
          <a:noFill/>
          <a:ln w="0">
            <a:noFill/>
          </a:ln>
        </p:spPr>
        <p:txBody>
          <a:bodyPr lIns="0" tIns="0" rIns="0" bIns="0" anchor="t">
            <a:noAutofit/>
          </a:bodyPr>
          <a:lstStyle>
            <a:lvl1pPr indent="0" algn="r">
              <a:buNone/>
              <a:defRPr lang="pl-PL" sz="1400" b="0" u="none" strike="noStrike">
                <a:solidFill>
                  <a:srgbClr val="000000"/>
                </a:solidFill>
                <a:effectLst/>
                <a:uFillTx/>
                <a:latin typeface="Times New Roman"/>
              </a:defRPr>
            </a:lvl1pPr>
          </a:lstStyle>
          <a:p>
            <a:pPr indent="0" algn="r">
              <a:buNone/>
            </a:pPr>
            <a:r>
              <a:rPr lang="pl-PL" sz="1400" b="0" u="none" strike="noStrike">
                <a:solidFill>
                  <a:srgbClr val="000000"/>
                </a:solidFill>
                <a:effectLst/>
                <a:uFillTx/>
                <a:latin typeface="Times New Roman"/>
              </a:rPr>
              <a:t>&lt;date/time&gt;</a:t>
            </a:r>
            <a:endParaRPr lang="pl-PL" sz="1400" b="0" u="none" strike="noStrike">
              <a:solidFill>
                <a:srgbClr val="000000"/>
              </a:solidFill>
              <a:effectLst/>
              <a:uFillTx/>
              <a:latin typeface="Times New Roman"/>
            </a:endParaRPr>
          </a:p>
        </p:txBody>
      </p:sp>
      <p:sp>
        <p:nvSpPr>
          <p:cNvPr id="18" name="PlaceHolder 5"/>
          <p:cNvSpPr>
            <a:spLocks noGrp="1"/>
          </p:cNvSpPr>
          <p:nvPr>
            <p:ph type="ftr" idx="8"/>
          </p:nvPr>
        </p:nvSpPr>
        <p:spPr>
          <a:xfrm>
            <a:off x="0" y="10157400"/>
            <a:ext cx="3280680" cy="534240"/>
          </a:xfrm>
          <a:prstGeom prst="rect">
            <a:avLst/>
          </a:prstGeom>
          <a:noFill/>
          <a:ln w="0">
            <a:noFill/>
          </a:ln>
        </p:spPr>
        <p:txBody>
          <a:bodyPr lIns="0" tIns="0" rIns="0" bIns="0" anchor="b">
            <a:noAutofit/>
          </a:bodyPr>
          <a:lstStyle>
            <a:lvl1pPr indent="0" algn="l">
              <a:buNone/>
              <a:defRPr lang="pl-PL" sz="1400" b="0" u="none" strike="noStrike">
                <a:solidFill>
                  <a:srgbClr val="000000"/>
                </a:solidFill>
                <a:effectLst/>
                <a:uFillTx/>
                <a:latin typeface="Times New Roman"/>
              </a:defRPr>
            </a:lvl1pPr>
          </a:lstStyle>
          <a:p>
            <a:pPr indent="0" algn="l">
              <a:buNone/>
            </a:pPr>
            <a:r>
              <a:rPr lang="pl-PL" sz="1400" b="0" u="none" strike="noStrike">
                <a:solidFill>
                  <a:srgbClr val="000000"/>
                </a:solidFill>
                <a:effectLst/>
                <a:uFillTx/>
                <a:latin typeface="Times New Roman"/>
              </a:rPr>
              <a:t>&lt;footer&gt;</a:t>
            </a:r>
            <a:endParaRPr lang="pl-PL" sz="1400" b="0" u="none" strike="noStrike">
              <a:solidFill>
                <a:srgbClr val="000000"/>
              </a:solidFill>
              <a:effectLst/>
              <a:uFillTx/>
              <a:latin typeface="Times New Roman"/>
            </a:endParaRPr>
          </a:p>
        </p:txBody>
      </p:sp>
      <p:sp>
        <p:nvSpPr>
          <p:cNvPr id="19" name="PlaceHolder 6"/>
          <p:cNvSpPr>
            <a:spLocks noGrp="1"/>
          </p:cNvSpPr>
          <p:nvPr>
            <p:ph type="sldNum" idx="9"/>
          </p:nvPr>
        </p:nvSpPr>
        <p:spPr>
          <a:xfrm>
            <a:off x="4278960" y="10157400"/>
            <a:ext cx="3280680" cy="534240"/>
          </a:xfrm>
          <a:prstGeom prst="rect">
            <a:avLst/>
          </a:prstGeom>
          <a:noFill/>
          <a:ln w="0">
            <a:noFill/>
          </a:ln>
        </p:spPr>
        <p:txBody>
          <a:bodyPr lIns="0" tIns="0" rIns="0" bIns="0" anchor="b">
            <a:noAutofit/>
          </a:bodyPr>
          <a:lstStyle>
            <a:lvl1pPr indent="0" algn="r">
              <a:buNone/>
              <a:defRPr lang="pl-PL" sz="1400" b="0" u="none" strike="noStrike">
                <a:solidFill>
                  <a:srgbClr val="000000"/>
                </a:solidFill>
                <a:effectLst/>
                <a:uFillTx/>
                <a:latin typeface="Times New Roman"/>
              </a:defRPr>
            </a:lvl1pPr>
          </a:lstStyle>
          <a:p>
            <a:pPr indent="0" algn="r">
              <a:buNone/>
            </a:pPr>
            <a:fld id="{0B5B8A56-D78C-4CF7-942E-2C102B166A35}" type="slidenum">
              <a:rPr lang="pl-PL" sz="1400" b="0" u="none" strike="noStrike">
                <a:solidFill>
                  <a:srgbClr val="000000"/>
                </a:solidFill>
                <a:effectLst/>
                <a:uFillTx/>
                <a:latin typeface="Times New Roman"/>
              </a:rPr>
              <a:t>&lt;number&gt;</a:t>
            </a:fld>
            <a:endParaRPr lang="pl-PL"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 name="PlaceHolder 1"/>
          <p:cNvSpPr>
            <a:spLocks noGrp="1"/>
          </p:cNvSpPr>
          <p:nvPr>
            <p:ph type="sldImg"/>
          </p:nvPr>
        </p:nvSpPr>
        <p:spPr>
          <a:xfrm>
            <a:off x="216000" y="812520"/>
            <a:ext cx="7127280" cy="4008960"/>
          </a:xfrm>
          <a:prstGeom prst="rect">
            <a:avLst/>
          </a:prstGeom>
          <a:ln w="0">
            <a:noFill/>
          </a:ln>
        </p:spPr>
      </p:sp>
      <p:sp>
        <p:nvSpPr>
          <p:cNvPr id="87"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p>
            <a:pPr indent="0" algn="l">
              <a:buNone/>
            </a:pPr>
            <a:r>
              <a:rPr lang="pl-PL" sz="2000" b="0" u="none" strike="noStrike">
                <a:solidFill>
                  <a:srgbClr val="000000"/>
                </a:solidFill>
                <a:effectLst/>
                <a:uFillTx/>
                <a:latin typeface="Arial"/>
              </a:rPr>
              <a:t>Good morning. My name is Marek Chodorski, and I am an independent researcher from Warsaw, Poland.</a:t>
            </a:r>
            <a:endParaRPr lang="pl-PL" sz="2000" b="0" u="none" strike="noStrike">
              <a:solidFill>
                <a:srgbClr val="000000"/>
              </a:solidFill>
              <a:effectLst/>
              <a:uFillTx/>
              <a:latin typeface="Arial"/>
            </a:endParaRPr>
          </a:p>
          <a:p>
            <a:pPr indent="0" algn="l">
              <a:buNone/>
            </a:pPr>
            <a:r>
              <a:rPr lang="pl-PL" sz="2000" b="0" u="none" strike="noStrike">
                <a:solidFill>
                  <a:srgbClr val="000000"/>
                </a:solidFill>
                <a:effectLst/>
                <a:uFillTx/>
                <a:latin typeface="Arial"/>
              </a:rPr>
              <a:t>The animation you can see here is a simple illustration of transient pollutant transport calculated with the Vanadis model.</a:t>
            </a:r>
            <a:endParaRPr lang="pl-PL" sz="2000" b="0" u="none" strike="noStrike">
              <a:solidFill>
                <a:srgbClr val="000000"/>
              </a:solidFill>
              <a:effectLst/>
              <a:uFillTx/>
              <a:latin typeface="Arial"/>
            </a:endParaRPr>
          </a:p>
          <a:p>
            <a:pPr indent="0" algn="l">
              <a:buNone/>
            </a:pPr>
            <a:r>
              <a:rPr lang="pl-PL" sz="2000" b="0" u="none" strike="noStrike">
                <a:solidFill>
                  <a:srgbClr val="000000"/>
                </a:solidFill>
                <a:effectLst/>
                <a:uFillTx/>
                <a:latin typeface="Arial"/>
              </a:rPr>
              <a:t>Vanadis is a three-dimensional finite-element system for atmospheric transport and dispersion.</a:t>
            </a:r>
            <a:endParaRPr lang="pl-PL" sz="2000" b="0" u="none" strike="noStrike">
              <a:solidFill>
                <a:srgbClr val="000000"/>
              </a:solidFill>
              <a:effectLst/>
              <a:uFillTx/>
              <a:latin typeface="Arial"/>
            </a:endParaRPr>
          </a:p>
          <a:p>
            <a:pPr indent="0" algn="l">
              <a:buNone/>
            </a:pPr>
            <a:r>
              <a:rPr lang="pl-PL" sz="2000" b="0" u="none" strike="noStrike">
                <a:solidFill>
                  <a:srgbClr val="000000"/>
                </a:solidFill>
                <a:effectLst/>
                <a:uFillTx/>
                <a:latin typeface="Arial"/>
              </a:rPr>
              <a:t>Today I would like to focus on two closely connected aspects of the system.</a:t>
            </a:r>
            <a:endParaRPr lang="pl-PL" sz="2000" b="0" u="none" strike="noStrike">
              <a:solidFill>
                <a:srgbClr val="000000"/>
              </a:solidFill>
              <a:effectLst/>
              <a:uFillTx/>
              <a:latin typeface="Arial"/>
            </a:endParaRPr>
          </a:p>
          <a:p>
            <a:pPr indent="0" algn="l">
              <a:buNone/>
            </a:pPr>
            <a:r>
              <a:rPr lang="pl-PL" sz="2000" b="0" u="none" strike="noStrike">
                <a:solidFill>
                  <a:srgbClr val="000000"/>
                </a:solidFill>
                <a:effectLst/>
                <a:uFillTx/>
                <a:latin typeface="Arial"/>
              </a:rPr>
              <a:t>The first is Directional Residual stabilisation for advection-dominated problems at high Péclet numbers.</a:t>
            </a:r>
            <a:endParaRPr lang="pl-PL" sz="2000" b="0" u="none" strike="noStrike">
              <a:solidFill>
                <a:srgbClr val="000000"/>
              </a:solidFill>
              <a:effectLst/>
              <a:uFillTx/>
              <a:latin typeface="Arial"/>
            </a:endParaRPr>
          </a:p>
          <a:p>
            <a:pPr indent="0" algn="l">
              <a:buNone/>
            </a:pPr>
            <a:r>
              <a:rPr lang="pl-PL" sz="2000" b="0" u="none" strike="noStrike">
                <a:solidFill>
                  <a:srgbClr val="000000"/>
                </a:solidFill>
                <a:effectLst/>
                <a:uFillTx/>
                <a:latin typeface="Arial"/>
              </a:rPr>
              <a:t>The second is the computational implementation, particularly the Element-by-Element formulation and GPU acceleration.</a:t>
            </a:r>
            <a:endParaRPr lang="pl-PL" sz="2000" b="0" u="none" strike="noStrike">
              <a:solidFill>
                <a:srgbClr val="000000"/>
              </a:solidFill>
              <a:effectLst/>
              <a:uFillTx/>
              <a:latin typeface="Arial"/>
            </a:endParaRPr>
          </a:p>
          <a:p>
            <a:pPr indent="0" algn="l">
              <a:buNone/>
            </a:pPr>
            <a:r>
              <a:rPr lang="pl-PL" sz="2000" b="0" u="none" strike="noStrike">
                <a:solidFill>
                  <a:srgbClr val="000000"/>
                </a:solidFill>
                <a:effectLst/>
                <a:uFillTx/>
                <a:latin typeface="Arial"/>
              </a:rPr>
              <a:t>I will show how these numerical and computational components are combined in Vanadis to form a practical three-dimensional transport solver.</a:t>
            </a:r>
            <a:endParaRPr lang="pl-PL" sz="2000" b="0" u="none" strike="noStrike">
              <a:solidFill>
                <a:srgbClr val="000000"/>
              </a:solidFill>
              <a:effectLst/>
              <a:uFillTx/>
              <a:latin typeface="Arial"/>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 name="PlaceHolder 1"/>
          <p:cNvSpPr>
            <a:spLocks noGrp="1"/>
          </p:cNvSpPr>
          <p:nvPr>
            <p:ph type="sldImg"/>
          </p:nvPr>
        </p:nvSpPr>
        <p:spPr>
          <a:xfrm>
            <a:off x="216000" y="812520"/>
            <a:ext cx="7127280" cy="4008960"/>
          </a:xfrm>
          <a:prstGeom prst="rect">
            <a:avLst/>
          </a:prstGeom>
          <a:ln w="0">
            <a:noFill/>
          </a:ln>
        </p:spPr>
      </p:sp>
      <p:sp>
        <p:nvSpPr>
          <p:cNvPr id="89"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p>
            <a:pPr indent="0" algn="l">
              <a:buNone/>
            </a:pPr>
            <a:r>
              <a:rPr lang="pl-PL" sz="2000" b="0" u="none" strike="noStrike">
                <a:solidFill>
                  <a:srgbClr val="000000"/>
                </a:solidFill>
                <a:effectLst/>
                <a:uFillTx/>
                <a:latin typeface="Arial"/>
              </a:rPr>
              <a:t>Before going into the Directional Residual formulation, let me briefly put it in the context of the complete Vanadis system.</a:t>
            </a:r>
            <a:endParaRPr lang="pl-PL" sz="2000" b="0" u="none" strike="noStrike">
              <a:solidFill>
                <a:srgbClr val="000000"/>
              </a:solidFill>
              <a:effectLst/>
              <a:uFillTx/>
              <a:latin typeface="Arial"/>
            </a:endParaRPr>
          </a:p>
          <a:p>
            <a:pPr indent="0" algn="l">
              <a:buNone/>
            </a:pPr>
            <a:r>
              <a:rPr lang="pl-PL" sz="2000" b="0" u="none" strike="noStrike">
                <a:solidFill>
                  <a:srgbClr val="000000"/>
                </a:solidFill>
                <a:effectLst/>
                <a:uFillTx/>
                <a:latin typeface="Arial"/>
              </a:rPr>
              <a:t>Vanadis solves the three-dimensional transient advection–diffusion–reaction equation using the finite-element method.</a:t>
            </a:r>
            <a:endParaRPr lang="pl-PL" sz="2000" b="0" u="none" strike="noStrike">
              <a:solidFill>
                <a:srgbClr val="000000"/>
              </a:solidFill>
              <a:effectLst/>
              <a:uFillTx/>
              <a:latin typeface="Arial"/>
            </a:endParaRPr>
          </a:p>
          <a:p>
            <a:pPr indent="0" algn="l">
              <a:buNone/>
            </a:pPr>
            <a:r>
              <a:rPr lang="pl-PL" sz="2000" b="0" u="none" strike="noStrike">
                <a:solidFill>
                  <a:srgbClr val="000000"/>
                </a:solidFill>
                <a:effectLst/>
                <a:uFillTx/>
                <a:latin typeface="Arial"/>
              </a:rPr>
              <a:t>The spatial discretisation is based on eight-node hexahedral elements.</a:t>
            </a:r>
            <a:endParaRPr lang="pl-PL" sz="2000" b="0" u="none" strike="noStrike">
              <a:solidFill>
                <a:srgbClr val="000000"/>
              </a:solidFill>
              <a:effectLst/>
              <a:uFillTx/>
              <a:latin typeface="Arial"/>
            </a:endParaRPr>
          </a:p>
          <a:p>
            <a:pPr indent="0" algn="l">
              <a:buNone/>
            </a:pPr>
            <a:r>
              <a:rPr lang="pl-PL" sz="2000" b="0" u="none" strike="noStrike">
                <a:solidFill>
                  <a:srgbClr val="000000"/>
                </a:solidFill>
                <a:effectLst/>
                <a:uFillTx/>
                <a:latin typeface="Arial"/>
              </a:rPr>
              <a:t>For strongly advection-dominated transport, Directional Residual stabilisation is used to supplement the standard Galerkin formulation. I will explain this in more detail on the next slide.</a:t>
            </a:r>
            <a:endParaRPr lang="pl-PL" sz="2000" b="0" u="none" strike="noStrike">
              <a:solidFill>
                <a:srgbClr val="000000"/>
              </a:solidFill>
              <a:effectLst/>
              <a:uFillTx/>
              <a:latin typeface="Arial"/>
            </a:endParaRPr>
          </a:p>
          <a:p>
            <a:pPr indent="0" algn="l">
              <a:buNone/>
            </a:pPr>
            <a:r>
              <a:rPr lang="pl-PL" sz="2000" b="0" u="none" strike="noStrike">
                <a:solidFill>
                  <a:srgbClr val="000000"/>
                </a:solidFill>
                <a:effectLst/>
                <a:uFillTx/>
                <a:latin typeface="Arial"/>
              </a:rPr>
              <a:t>Time integration is implicit, with theta equal to two-thirds.</a:t>
            </a:r>
            <a:endParaRPr lang="pl-PL" sz="2000" b="0" u="none" strike="noStrike">
              <a:solidFill>
                <a:srgbClr val="000000"/>
              </a:solidFill>
              <a:effectLst/>
              <a:uFillTx/>
              <a:latin typeface="Arial"/>
            </a:endParaRPr>
          </a:p>
          <a:p>
            <a:pPr indent="0" algn="l">
              <a:buNone/>
            </a:pPr>
            <a:r>
              <a:rPr lang="pl-PL" sz="2000" b="0" u="none" strike="noStrike">
                <a:solidFill>
                  <a:srgbClr val="000000"/>
                </a:solidFill>
                <a:effectLst/>
                <a:uFillTx/>
                <a:latin typeface="Arial"/>
              </a:rPr>
              <a:t>On the computational side, Vanadis uses an Element-by-Element formulation together with a Jacobi-preconditioned D-B-C-G iterative solver.</a:t>
            </a:r>
            <a:endParaRPr lang="pl-PL" sz="2000" b="0" u="none" strike="noStrike">
              <a:solidFill>
                <a:srgbClr val="000000"/>
              </a:solidFill>
              <a:effectLst/>
              <a:uFillTx/>
              <a:latin typeface="Arial"/>
            </a:endParaRPr>
          </a:p>
          <a:p>
            <a:pPr indent="0" algn="l">
              <a:buNone/>
            </a:pPr>
            <a:r>
              <a:rPr lang="pl-PL" sz="2000" b="0" u="none" strike="noStrike">
                <a:solidFill>
                  <a:srgbClr val="000000"/>
                </a:solidFill>
                <a:effectLst/>
                <a:uFillTx/>
                <a:latin typeface="Arial"/>
              </a:rPr>
              <a:t>Element calculations can be parallelised on the CPU using OpenMP, while the solution stage can be accelerated using CUDA on the GPU.</a:t>
            </a:r>
            <a:endParaRPr lang="pl-PL" sz="2000" b="0" u="none" strike="noStrike">
              <a:solidFill>
                <a:srgbClr val="000000"/>
              </a:solidFill>
              <a:effectLst/>
              <a:uFillTx/>
              <a:latin typeface="Arial"/>
            </a:endParaRPr>
          </a:p>
          <a:p>
            <a:pPr indent="0" algn="l">
              <a:buNone/>
            </a:pPr>
            <a:r>
              <a:rPr lang="pl-PL" sz="2000" b="0" u="none" strike="noStrike">
                <a:solidFill>
                  <a:srgbClr val="000000"/>
                </a:solidFill>
                <a:effectLst/>
                <a:uFillTx/>
                <a:latin typeface="Arial"/>
              </a:rPr>
              <a:t>In a separate large-mesh benchmark, the model handled approximately 2.8 million nodes, using about 1.4 gigabytes for the Element-by-Element matrix data.</a:t>
            </a:r>
            <a:endParaRPr lang="pl-PL" sz="2000" b="0" u="none" strike="noStrike">
              <a:solidFill>
                <a:srgbClr val="000000"/>
              </a:solidFill>
              <a:effectLst/>
              <a:uFillTx/>
              <a:latin typeface="Arial"/>
            </a:endParaRPr>
          </a:p>
          <a:p>
            <a:pPr indent="0" algn="l">
              <a:buNone/>
            </a:pPr>
            <a:r>
              <a:rPr lang="pl-PL" sz="2000" b="0" u="none" strike="noStrike">
                <a:solidFill>
                  <a:srgbClr val="000000"/>
                </a:solidFill>
                <a:effectLst/>
                <a:uFillTx/>
                <a:latin typeface="Arial"/>
              </a:rPr>
              <a:t>The GPU linear-solver stage required approximately 6.6 to 8.9 seconds per time step.</a:t>
            </a:r>
            <a:endParaRPr lang="pl-PL" sz="2000" b="0" u="none" strike="noStrike">
              <a:solidFill>
                <a:srgbClr val="000000"/>
              </a:solidFill>
              <a:effectLst/>
              <a:uFillTx/>
              <a:latin typeface="Arial"/>
            </a:endParaRPr>
          </a:p>
          <a:p>
            <a:pPr indent="0" algn="l">
              <a:buNone/>
            </a:pPr>
            <a:r>
              <a:rPr lang="pl-PL" sz="2000" b="0" u="none" strike="noStrike">
                <a:solidFill>
                  <a:srgbClr val="000000"/>
                </a:solidFill>
                <a:effectLst/>
                <a:uFillTx/>
                <a:latin typeface="Arial"/>
              </a:rPr>
              <a:t>The important point is that these numerical and computational components are designed to work together as one integrated system.</a:t>
            </a:r>
            <a:endParaRPr lang="pl-PL" sz="2000" b="0" u="none" strike="noStrike">
              <a:solidFill>
                <a:srgbClr val="000000"/>
              </a:solidFill>
              <a:effectLst/>
              <a:uFillTx/>
              <a:latin typeface="Arial"/>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 name="PlaceHolder 1"/>
          <p:cNvSpPr>
            <a:spLocks noGrp="1"/>
          </p:cNvSpPr>
          <p:nvPr>
            <p:ph type="sldImg"/>
          </p:nvPr>
        </p:nvSpPr>
        <p:spPr>
          <a:xfrm>
            <a:off x="216360" y="812520"/>
            <a:ext cx="7126920" cy="4008960"/>
          </a:xfrm>
          <a:prstGeom prst="rect">
            <a:avLst/>
          </a:prstGeom>
          <a:ln w="0">
            <a:noFill/>
          </a:ln>
        </p:spPr>
      </p:sp>
      <p:sp>
        <p:nvSpPr>
          <p:cNvPr id="91"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p>
            <a:pPr indent="0" algn="l">
              <a:buNone/>
            </a:pPr>
            <a:r>
              <a:rPr lang="pl-PL" sz="2000" b="0" u="none" strike="noStrike">
                <a:solidFill>
                  <a:srgbClr val="000000"/>
                </a:solidFill>
                <a:effectLst/>
                <a:uFillTx/>
                <a:latin typeface="Arial"/>
              </a:rPr>
              <a:t>This slide illustrates the numerical problem that motivates the Directional Residual formulation.</a:t>
            </a:r>
            <a:endParaRPr lang="pl-PL" sz="2000" b="0" u="none" strike="noStrike">
              <a:solidFill>
                <a:srgbClr val="000000"/>
              </a:solidFill>
              <a:effectLst/>
              <a:uFillTx/>
              <a:latin typeface="Arial"/>
            </a:endParaRPr>
          </a:p>
          <a:p>
            <a:pPr indent="0" algn="l">
              <a:buNone/>
            </a:pPr>
            <a:r>
              <a:rPr lang="pl-PL" sz="2000" b="0" u="none" strike="noStrike">
                <a:solidFill>
                  <a:srgbClr val="000000"/>
                </a:solidFill>
                <a:effectLst/>
                <a:uFillTx/>
                <a:latin typeface="Arial"/>
              </a:rPr>
              <a:t>On the left, you can see the result obtained with the standard, unstabilised Galerkin formulation for an advection-dominated test case.</a:t>
            </a:r>
            <a:endParaRPr lang="pl-PL" sz="2000" b="0" u="none" strike="noStrike">
              <a:solidFill>
                <a:srgbClr val="000000"/>
              </a:solidFill>
              <a:effectLst/>
              <a:uFillTx/>
              <a:latin typeface="Arial"/>
            </a:endParaRPr>
          </a:p>
          <a:p>
            <a:pPr indent="0" algn="l">
              <a:buNone/>
            </a:pPr>
            <a:r>
              <a:rPr lang="pl-PL" sz="2000" b="0" u="none" strike="noStrike">
                <a:solidFill>
                  <a:srgbClr val="000000"/>
                </a:solidFill>
                <a:effectLst/>
                <a:uFillTx/>
                <a:latin typeface="Arial"/>
              </a:rPr>
              <a:t>The solution develops visible oscillatory structures, with repeated lobes and irregular concentration contours behind the main plume.</a:t>
            </a:r>
            <a:endParaRPr lang="pl-PL" sz="2000" b="0" u="none" strike="noStrike">
              <a:solidFill>
                <a:srgbClr val="000000"/>
              </a:solidFill>
              <a:effectLst/>
              <a:uFillTx/>
              <a:latin typeface="Arial"/>
            </a:endParaRPr>
          </a:p>
          <a:p>
            <a:pPr indent="0" algn="l">
              <a:buNone/>
            </a:pPr>
            <a:r>
              <a:rPr lang="pl-PL" sz="2000" b="0" u="none" strike="noStrike">
                <a:solidFill>
                  <a:srgbClr val="000000"/>
                </a:solidFill>
                <a:effectLst/>
                <a:uFillTx/>
                <a:latin typeface="Arial"/>
              </a:rPr>
              <a:t>On the right, the same type of calculation is performed using Directional Residual stabilisation.</a:t>
            </a:r>
            <a:endParaRPr lang="pl-PL" sz="2000" b="0" u="none" strike="noStrike">
              <a:solidFill>
                <a:srgbClr val="000000"/>
              </a:solidFill>
              <a:effectLst/>
              <a:uFillTx/>
              <a:latin typeface="Arial"/>
            </a:endParaRPr>
          </a:p>
          <a:p>
            <a:pPr indent="0" algn="l">
              <a:buNone/>
            </a:pPr>
            <a:r>
              <a:rPr lang="pl-PL" sz="2000" b="0" u="none" strike="noStrike">
                <a:solidFill>
                  <a:srgbClr val="000000"/>
                </a:solidFill>
                <a:effectLst/>
                <a:uFillTx/>
                <a:latin typeface="Arial"/>
              </a:rPr>
              <a:t>The plume becomes much smoother and remains aligned with the direction of transport.</a:t>
            </a:r>
            <a:endParaRPr lang="pl-PL" sz="2000" b="0" u="none" strike="noStrike">
              <a:solidFill>
                <a:srgbClr val="000000"/>
              </a:solidFill>
              <a:effectLst/>
              <a:uFillTx/>
              <a:latin typeface="Arial"/>
            </a:endParaRPr>
          </a:p>
          <a:p>
            <a:pPr indent="0" algn="l">
              <a:buNone/>
            </a:pPr>
            <a:r>
              <a:rPr lang="pl-PL" sz="2000" b="0" u="none" strike="noStrike">
                <a:solidFill>
                  <a:srgbClr val="000000"/>
                </a:solidFill>
                <a:effectLst/>
                <a:uFillTx/>
                <a:latin typeface="Arial"/>
              </a:rPr>
              <a:t>Importantly, the prescribed physical diffusion is not modified. The physical diffusion term remains in the standard Galerkin form, while the stabilisation is introduced through a directional modification of the test function.</a:t>
            </a:r>
            <a:endParaRPr lang="pl-PL" sz="2000" b="0" u="none" strike="noStrike">
              <a:solidFill>
                <a:srgbClr val="000000"/>
              </a:solidFill>
              <a:effectLst/>
              <a:uFillTx/>
              <a:latin typeface="Arial"/>
            </a:endParaRPr>
          </a:p>
          <a:p>
            <a:pPr indent="0" algn="l">
              <a:buNone/>
            </a:pPr>
            <a:endParaRPr lang="pl-PL" sz="2000" b="0" u="none" strike="noStrike">
              <a:solidFill>
                <a:srgbClr val="000000"/>
              </a:solidFill>
              <a:effectLst/>
              <a:uFillTx/>
              <a:latin typeface="Arial"/>
            </a:endParaRPr>
          </a:p>
          <a:p>
            <a:pPr indent="0" algn="l">
              <a:buNone/>
            </a:pPr>
            <a:r>
              <a:rPr lang="pl-PL" sz="2000" b="0" u="none" strike="noStrike">
                <a:solidFill>
                  <a:srgbClr val="000000"/>
                </a:solidFill>
                <a:effectLst/>
                <a:uFillTx/>
                <a:latin typeface="Arial"/>
              </a:rPr>
              <a:t>Please note that the two panels use individually scaled concentration ranges; the comparison here concerns primarily the spatial structure of the solution.</a:t>
            </a:r>
            <a:endParaRPr lang="pl-PL" sz="2000" b="0" u="none" strike="noStrike">
              <a:solidFill>
                <a:srgbClr val="000000"/>
              </a:solidFill>
              <a:effectLst/>
              <a:uFillTx/>
              <a:latin typeface="Arial"/>
            </a:endParaRPr>
          </a:p>
          <a:p>
            <a:pPr indent="0" algn="l">
              <a:buNone/>
            </a:pPr>
            <a:endParaRPr lang="pl-PL" sz="2000" b="0" u="none" strike="noStrike">
              <a:solidFill>
                <a:srgbClr val="000000"/>
              </a:solidFill>
              <a:effectLst/>
              <a:uFillTx/>
              <a:latin typeface="Arial"/>
            </a:endParaRPr>
          </a:p>
          <a:p>
            <a:pPr indent="0" algn="l">
              <a:buNone/>
            </a:pPr>
            <a:r>
              <a:rPr lang="pl-PL" sz="2000" b="0" u="none" strike="noStrike">
                <a:solidFill>
                  <a:srgbClr val="000000"/>
                </a:solidFill>
                <a:effectLst/>
                <a:uFillTx/>
                <a:latin typeface="Arial"/>
              </a:rPr>
              <a:t>This figure is intended to demonstrate the stabilising effect of DR. It is not, by itself, a comparison of accuracy with other stabilisation methods such as SUPG.</a:t>
            </a:r>
            <a:endParaRPr lang="pl-PL" sz="2000" b="0" u="none" strike="noStrike">
              <a:solidFill>
                <a:srgbClr val="000000"/>
              </a:solidFill>
              <a:effectLst/>
              <a:uFillTx/>
              <a:latin typeface="Arial"/>
            </a:endParaRPr>
          </a:p>
          <a:p>
            <a:pPr indent="0" algn="l">
              <a:buNone/>
            </a:pPr>
            <a:r>
              <a:rPr lang="pl-PL" sz="2000" b="0" u="none" strike="noStrike">
                <a:solidFill>
                  <a:srgbClr val="000000"/>
                </a:solidFill>
                <a:effectLst/>
                <a:uFillTx/>
                <a:latin typeface="Arial"/>
              </a:rPr>
              <a:t>On the next slide, I will show how the Directional Residual test function is defined.</a:t>
            </a:r>
            <a:endParaRPr lang="pl-PL" sz="2000" b="0" u="none" strike="noStrike">
              <a:solidFill>
                <a:srgbClr val="000000"/>
              </a:solidFill>
              <a:effectLst/>
              <a:uFillTx/>
              <a:latin typeface="Arial"/>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 name="PlaceHolder 1"/>
          <p:cNvSpPr>
            <a:spLocks noGrp="1"/>
          </p:cNvSpPr>
          <p:nvPr>
            <p:ph type="sldImg"/>
          </p:nvPr>
        </p:nvSpPr>
        <p:spPr>
          <a:xfrm>
            <a:off x="216360" y="812520"/>
            <a:ext cx="7126920" cy="4008960"/>
          </a:xfrm>
          <a:prstGeom prst="rect">
            <a:avLst/>
          </a:prstGeom>
          <a:ln w="0">
            <a:noFill/>
          </a:ln>
        </p:spPr>
      </p:sp>
      <p:sp>
        <p:nvSpPr>
          <p:cNvPr id="93"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p>
            <a:pPr indent="0" algn="l">
              <a:buNone/>
            </a:pPr>
            <a:r>
              <a:rPr lang="pl-PL" sz="2000" b="0" u="none" strike="noStrike">
                <a:solidFill>
                  <a:srgbClr val="000000"/>
                </a:solidFill>
                <a:effectLst/>
                <a:uFillTx/>
                <a:latin typeface="Arial"/>
              </a:rPr>
              <a:t>Now let me show how the Directional Residual stabilisation is constructed.</a:t>
            </a:r>
            <a:endParaRPr lang="pl-PL" sz="2000" b="0" u="none" strike="noStrike">
              <a:solidFill>
                <a:srgbClr val="000000"/>
              </a:solidFill>
              <a:effectLst/>
              <a:uFillTx/>
              <a:latin typeface="Arial"/>
            </a:endParaRPr>
          </a:p>
          <a:p>
            <a:pPr indent="0" algn="l">
              <a:buNone/>
            </a:pPr>
            <a:r>
              <a:rPr lang="pl-PL" sz="2000" b="0" u="none" strike="noStrike">
                <a:solidFill>
                  <a:srgbClr val="000000"/>
                </a:solidFill>
                <a:effectLst/>
                <a:uFillTx/>
                <a:latin typeface="Arial"/>
              </a:rPr>
              <a:t>Directional Residual is a Vanadis-specific Petrov–Galerkin formulation, closely related to SUPG.</a:t>
            </a:r>
            <a:endParaRPr lang="pl-PL" sz="2000" b="0" u="none" strike="noStrike">
              <a:solidFill>
                <a:srgbClr val="000000"/>
              </a:solidFill>
              <a:effectLst/>
              <a:uFillTx/>
              <a:latin typeface="Arial"/>
            </a:endParaRPr>
          </a:p>
          <a:p>
            <a:pPr indent="0" algn="l">
              <a:buNone/>
            </a:pPr>
            <a:r>
              <a:rPr lang="pl-PL" sz="2000" b="0" u="none" strike="noStrike">
                <a:solidFill>
                  <a:srgbClr val="000000"/>
                </a:solidFill>
                <a:effectLst/>
                <a:uFillTx/>
                <a:latin typeface="Arial"/>
              </a:rPr>
              <a:t>Instead of using only the standard Galerkin test function, Ni​, the test function is modified in the local direction of transport.</a:t>
            </a:r>
            <a:endParaRPr lang="pl-PL" sz="2000" b="0" u="none" strike="noStrike">
              <a:solidFill>
                <a:srgbClr val="000000"/>
              </a:solidFill>
              <a:effectLst/>
              <a:uFillTx/>
              <a:latin typeface="Arial"/>
            </a:endParaRPr>
          </a:p>
          <a:p>
            <a:pPr indent="0" algn="l">
              <a:buNone/>
            </a:pPr>
            <a:r>
              <a:rPr lang="pl-PL" sz="2000" b="0" u="none" strike="noStrike">
                <a:solidFill>
                  <a:srgbClr val="000000"/>
                </a:solidFill>
                <a:effectLst/>
                <a:uFillTx/>
                <a:latin typeface="Arial"/>
              </a:rPr>
              <a:t>The additional term is proportional to the directional derivative of the shape function along the velocity vector.</a:t>
            </a:r>
            <a:endParaRPr lang="pl-PL" sz="2000" b="0" u="none" strike="noStrike">
              <a:solidFill>
                <a:srgbClr val="000000"/>
              </a:solidFill>
              <a:effectLst/>
              <a:uFillTx/>
              <a:latin typeface="Arial"/>
            </a:endParaRPr>
          </a:p>
          <a:p>
            <a:pPr indent="0" algn="l">
              <a:buNone/>
            </a:pPr>
            <a:r>
              <a:rPr lang="pl-PL" sz="2000" b="0" u="none" strike="noStrike">
                <a:solidFill>
                  <a:srgbClr val="000000"/>
                </a:solidFill>
                <a:effectLst/>
                <a:uFillTx/>
                <a:latin typeface="Arial"/>
              </a:rPr>
              <a:t>The strength of this modification is controlled by the parameter tau D-R.</a:t>
            </a:r>
            <a:endParaRPr lang="pl-PL" sz="2000" b="0" u="none" strike="noStrike">
              <a:solidFill>
                <a:srgbClr val="000000"/>
              </a:solidFill>
              <a:effectLst/>
              <a:uFillTx/>
              <a:latin typeface="Arial"/>
            </a:endParaRPr>
          </a:p>
          <a:p>
            <a:pPr indent="0" algn="l">
              <a:buNone/>
            </a:pPr>
            <a:r>
              <a:rPr lang="pl-PL" sz="2000" b="0" u="none" strike="noStrike">
                <a:solidFill>
                  <a:srgbClr val="000000"/>
                </a:solidFill>
                <a:effectLst/>
                <a:uFillTx/>
                <a:latin typeface="Arial"/>
              </a:rPr>
              <a:t>Tau D-R is determined locally from the streamwise Péclet number.</a:t>
            </a:r>
            <a:endParaRPr lang="pl-PL" sz="2000" b="0" u="none" strike="noStrike">
              <a:solidFill>
                <a:srgbClr val="000000"/>
              </a:solidFill>
              <a:effectLst/>
              <a:uFillTx/>
              <a:latin typeface="Arial"/>
            </a:endParaRPr>
          </a:p>
          <a:p>
            <a:pPr indent="0" algn="l">
              <a:buNone/>
            </a:pPr>
            <a:r>
              <a:rPr lang="pl-PL" sz="2000" b="0" u="none" strike="noStrike">
                <a:solidFill>
                  <a:srgbClr val="000000"/>
                </a:solidFill>
                <a:effectLst/>
                <a:uFillTx/>
                <a:latin typeface="Arial"/>
              </a:rPr>
              <a:t>This Péclet number depends on the velocity magnitude, the streamwise element length, and the diffusion coefficient projected onto the direction of flow.</a:t>
            </a:r>
            <a:endParaRPr lang="pl-PL" sz="2000" b="0" u="none" strike="noStrike">
              <a:solidFill>
                <a:srgbClr val="000000"/>
              </a:solidFill>
              <a:effectLst/>
              <a:uFillTx/>
              <a:latin typeface="Arial"/>
            </a:endParaRPr>
          </a:p>
          <a:p>
            <a:pPr indent="0" algn="l">
              <a:buNone/>
            </a:pPr>
            <a:r>
              <a:rPr lang="pl-PL" sz="2000" b="0" u="none" strike="noStrike">
                <a:solidFill>
                  <a:srgbClr val="000000"/>
                </a:solidFill>
                <a:effectLst/>
                <a:uFillTx/>
                <a:latin typeface="Arial"/>
              </a:rPr>
              <a:t>As a result, the stabilisation adapts to the local flow direction, element geometry, and directional diffusion.</a:t>
            </a:r>
            <a:endParaRPr lang="pl-PL" sz="2000" b="0" u="none" strike="noStrike">
              <a:solidFill>
                <a:srgbClr val="000000"/>
              </a:solidFill>
              <a:effectLst/>
              <a:uFillTx/>
              <a:latin typeface="Arial"/>
            </a:endParaRPr>
          </a:p>
          <a:p>
            <a:pPr indent="0" algn="l">
              <a:buNone/>
            </a:pPr>
            <a:r>
              <a:rPr lang="pl-PL" sz="2000" b="0" u="none" strike="noStrike">
                <a:solidFill>
                  <a:srgbClr val="000000"/>
                </a:solidFill>
                <a:effectLst/>
                <a:uFillTx/>
                <a:latin typeface="Arial"/>
              </a:rPr>
              <a:t>In the representative test shown here, the streamwise Péclet number ranges from approximately 3.1 to 156.3.</a:t>
            </a:r>
            <a:endParaRPr lang="pl-PL" sz="2000" b="0" u="none" strike="noStrike">
              <a:solidFill>
                <a:srgbClr val="000000"/>
              </a:solidFill>
              <a:effectLst/>
              <a:uFillTx/>
              <a:latin typeface="Arial"/>
            </a:endParaRPr>
          </a:p>
          <a:p>
            <a:pPr indent="0" algn="l">
              <a:buNone/>
            </a:pPr>
            <a:r>
              <a:rPr lang="pl-PL" sz="2000" b="0" u="none" strike="noStrike">
                <a:solidFill>
                  <a:srgbClr val="000000"/>
                </a:solidFill>
                <a:effectLst/>
                <a:uFillTx/>
                <a:latin typeface="Arial"/>
              </a:rPr>
              <a:t>In Vanadis, the Directional Residual weighting is applied to both the transient and advective terms.</a:t>
            </a:r>
            <a:endParaRPr lang="pl-PL" sz="2000" b="0" u="none" strike="noStrike">
              <a:solidFill>
                <a:srgbClr val="000000"/>
              </a:solidFill>
              <a:effectLst/>
              <a:uFillTx/>
              <a:latin typeface="Arial"/>
            </a:endParaRPr>
          </a:p>
          <a:p>
            <a:pPr indent="0" algn="l">
              <a:buNone/>
            </a:pPr>
            <a:r>
              <a:rPr lang="pl-PL" sz="2000" b="0" u="none" strike="noStrike">
                <a:solidFill>
                  <a:srgbClr val="000000"/>
                </a:solidFill>
                <a:effectLst/>
                <a:uFillTx/>
                <a:latin typeface="Arial"/>
              </a:rPr>
              <a:t>The physical diffusion term, however, remains in the standard Galerkin form.</a:t>
            </a:r>
            <a:endParaRPr lang="pl-PL" sz="2000" b="0" u="none" strike="noStrike">
              <a:solidFill>
                <a:srgbClr val="000000"/>
              </a:solidFill>
              <a:effectLst/>
              <a:uFillTx/>
              <a:latin typeface="Arial"/>
            </a:endParaRPr>
          </a:p>
          <a:p>
            <a:pPr indent="0" algn="l">
              <a:buNone/>
            </a:pPr>
            <a:r>
              <a:rPr lang="pl-PL" sz="2000" b="0" u="none" strike="noStrike">
                <a:solidFill>
                  <a:srgbClr val="000000"/>
                </a:solidFill>
                <a:effectLst/>
                <a:uFillTx/>
                <a:latin typeface="Arial"/>
              </a:rPr>
              <a:t>So the stabilisation does not rely on increasing the prescribed physical diffusion. Instead, it modifies the test-function weighting according to the local transport conditions.</a:t>
            </a:r>
            <a:endParaRPr lang="pl-PL" sz="2000" b="0" u="none" strike="noStrike">
              <a:solidFill>
                <a:srgbClr val="000000"/>
              </a:solidFill>
              <a:effectLst/>
              <a:uFillTx/>
              <a:latin typeface="Arial"/>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 name="PlaceHolder 1"/>
          <p:cNvSpPr>
            <a:spLocks noGrp="1"/>
          </p:cNvSpPr>
          <p:nvPr>
            <p:ph type="sldImg"/>
          </p:nvPr>
        </p:nvSpPr>
        <p:spPr>
          <a:xfrm>
            <a:off x="216360" y="812520"/>
            <a:ext cx="7126920" cy="4008960"/>
          </a:xfrm>
          <a:prstGeom prst="rect">
            <a:avLst/>
          </a:prstGeom>
          <a:ln w="0">
            <a:noFill/>
          </a:ln>
        </p:spPr>
      </p:sp>
      <p:sp>
        <p:nvSpPr>
          <p:cNvPr id="95"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p>
            <a:pPr indent="0" algn="l">
              <a:buNone/>
            </a:pPr>
            <a:r>
              <a:rPr lang="pl-PL" sz="2000" b="0" u="none" strike="noStrike">
                <a:solidFill>
                  <a:srgbClr val="000000"/>
                </a:solidFill>
                <a:effectLst/>
                <a:uFillTx/>
                <a:latin typeface="Arial"/>
              </a:rPr>
              <a:t>Now I would like to move from the numerical formulation to the computational architecture, and explain why Vanadis uses an Element-by-Element approach.</a:t>
            </a:r>
            <a:endParaRPr lang="pl-PL" sz="2000" b="0" u="none" strike="noStrike">
              <a:solidFill>
                <a:srgbClr val="000000"/>
              </a:solidFill>
              <a:effectLst/>
              <a:uFillTx/>
              <a:latin typeface="Arial"/>
            </a:endParaRPr>
          </a:p>
          <a:p>
            <a:pPr indent="0" algn="l">
              <a:buNone/>
            </a:pPr>
            <a:r>
              <a:rPr lang="pl-PL" sz="2000" b="0" u="none" strike="noStrike">
                <a:solidFill>
                  <a:srgbClr val="000000"/>
                </a:solidFill>
                <a:effectLst/>
                <a:uFillTx/>
                <a:latin typeface="Arial"/>
              </a:rPr>
              <a:t>The first reason is memory.</a:t>
            </a:r>
            <a:endParaRPr lang="pl-PL" sz="2000" b="0" u="none" strike="noStrike">
              <a:solidFill>
                <a:srgbClr val="000000"/>
              </a:solidFill>
              <a:effectLst/>
              <a:uFillTx/>
              <a:latin typeface="Arial"/>
            </a:endParaRPr>
          </a:p>
          <a:p>
            <a:pPr indent="0" algn="l">
              <a:buNone/>
            </a:pPr>
            <a:r>
              <a:rPr lang="pl-PL" sz="2000" b="0" u="none" strike="noStrike">
                <a:solidFill>
                  <a:srgbClr val="000000"/>
                </a:solidFill>
                <a:effectLst/>
                <a:uFillTx/>
                <a:latin typeface="Arial"/>
              </a:rPr>
              <a:t>For the 2.8-million-node benchmark, full dense matrix storage would require approximately 66 terabytes.</a:t>
            </a:r>
            <a:endParaRPr lang="pl-PL" sz="2000" b="0" u="none" strike="noStrike">
              <a:solidFill>
                <a:srgbClr val="000000"/>
              </a:solidFill>
              <a:effectLst/>
              <a:uFillTx/>
              <a:latin typeface="Arial"/>
            </a:endParaRPr>
          </a:p>
          <a:p>
            <a:pPr indent="0" algn="l">
              <a:buNone/>
            </a:pPr>
            <a:r>
              <a:rPr lang="pl-PL" sz="2000" b="0" u="none" strike="noStrike">
                <a:solidFill>
                  <a:srgbClr val="000000"/>
                </a:solidFill>
                <a:effectLst/>
                <a:uFillTx/>
                <a:latin typeface="Arial"/>
              </a:rPr>
              <a:t>The banded matrix representation used for this comparison would require approximately 333 gigabytes.</a:t>
            </a:r>
            <a:endParaRPr lang="pl-PL" sz="2000" b="0" u="none" strike="noStrike">
              <a:solidFill>
                <a:srgbClr val="000000"/>
              </a:solidFill>
              <a:effectLst/>
              <a:uFillTx/>
              <a:latin typeface="Arial"/>
            </a:endParaRPr>
          </a:p>
          <a:p>
            <a:pPr indent="0" algn="l">
              <a:buNone/>
            </a:pPr>
            <a:r>
              <a:rPr lang="pl-PL" sz="2000" b="0" u="none" strike="noStrike">
                <a:solidFill>
                  <a:srgbClr val="000000"/>
                </a:solidFill>
                <a:effectLst/>
                <a:uFillTx/>
                <a:latin typeface="Arial"/>
              </a:rPr>
              <a:t>In contrast, the Vanadis Element-by-Element representation requires only about 1.4 gigabytes for the matrix data.</a:t>
            </a:r>
            <a:endParaRPr lang="pl-PL" sz="2000" b="0" u="none" strike="noStrike">
              <a:solidFill>
                <a:srgbClr val="000000"/>
              </a:solidFill>
              <a:effectLst/>
              <a:uFillTx/>
              <a:latin typeface="Arial"/>
            </a:endParaRPr>
          </a:p>
          <a:p>
            <a:pPr indent="0" algn="l">
              <a:buNone/>
            </a:pPr>
            <a:r>
              <a:rPr lang="pl-PL" sz="2000" b="0" u="none" strike="noStrike">
                <a:solidFill>
                  <a:srgbClr val="000000"/>
                </a:solidFill>
                <a:effectLst/>
                <a:uFillTx/>
                <a:latin typeface="Arial"/>
              </a:rPr>
              <a:t>This has an important consequence for GPU computing. Multi-million-node problems can fit on a single GPU, and the solver data can remain resident in GPU memory.</a:t>
            </a:r>
            <a:endParaRPr lang="pl-PL" sz="2000" b="0" u="none" strike="noStrike">
              <a:solidFill>
                <a:srgbClr val="000000"/>
              </a:solidFill>
              <a:effectLst/>
              <a:uFillTx/>
              <a:latin typeface="Arial"/>
            </a:endParaRPr>
          </a:p>
          <a:p>
            <a:pPr indent="0" algn="l">
              <a:buNone/>
            </a:pPr>
            <a:r>
              <a:rPr lang="pl-PL" sz="2000" b="0" u="none" strike="noStrike">
                <a:solidFill>
                  <a:srgbClr val="000000"/>
                </a:solidFill>
                <a:effectLst/>
                <a:uFillTx/>
                <a:latin typeface="Arial"/>
              </a:rPr>
              <a:t>This reduces transfers between the CPU and GPU and, when one GPU is sufficient, avoids inter-GPU communication completely.</a:t>
            </a:r>
            <a:endParaRPr lang="pl-PL" sz="2000" b="0" u="none" strike="noStrike">
              <a:solidFill>
                <a:srgbClr val="000000"/>
              </a:solidFill>
              <a:effectLst/>
              <a:uFillTx/>
              <a:latin typeface="Arial"/>
            </a:endParaRPr>
          </a:p>
          <a:p>
            <a:pPr indent="0" algn="l">
              <a:buNone/>
            </a:pPr>
            <a:r>
              <a:rPr lang="pl-PL" sz="2000" b="0" u="none" strike="noStrike">
                <a:solidFill>
                  <a:srgbClr val="000000"/>
                </a:solidFill>
                <a:effectLst/>
                <a:uFillTx/>
                <a:latin typeface="Arial"/>
              </a:rPr>
              <a:t>Element-by-Element storage also reduces the amount of matrix data processed in the dominant solver kernels.</a:t>
            </a:r>
            <a:endParaRPr lang="pl-PL" sz="2000" b="0" u="none" strike="noStrike">
              <a:solidFill>
                <a:srgbClr val="000000"/>
              </a:solidFill>
              <a:effectLst/>
              <a:uFillTx/>
              <a:latin typeface="Arial"/>
            </a:endParaRPr>
          </a:p>
          <a:p>
            <a:pPr indent="0" algn="l">
              <a:buNone/>
            </a:pPr>
            <a:r>
              <a:rPr lang="pl-PL" sz="2000" b="0" u="none" strike="noStrike">
                <a:solidFill>
                  <a:srgbClr val="000000"/>
                </a:solidFill>
                <a:effectLst/>
                <a:uFillTx/>
                <a:latin typeface="Arial"/>
              </a:rPr>
              <a:t>For an eight-node hexahedral element, Vanadis processes a local eight-by-eight matrix, which means 64 matrix entries per element.</a:t>
            </a:r>
            <a:endParaRPr lang="pl-PL" sz="2000" b="0" u="none" strike="noStrike">
              <a:solidFill>
                <a:srgbClr val="000000"/>
              </a:solidFill>
              <a:effectLst/>
              <a:uFillTx/>
              <a:latin typeface="Arial"/>
            </a:endParaRPr>
          </a:p>
          <a:p>
            <a:pPr indent="0" algn="l">
              <a:buNone/>
            </a:pPr>
            <a:r>
              <a:rPr lang="pl-PL" sz="2000" b="0" u="none" strike="noStrike">
                <a:solidFill>
                  <a:srgbClr val="000000"/>
                </a:solidFill>
                <a:effectLst/>
                <a:uFillTx/>
                <a:latin typeface="Arial"/>
              </a:rPr>
              <a:t>This is substantially less than processing the corresponding wide banded matrix representation.</a:t>
            </a:r>
            <a:endParaRPr lang="pl-PL" sz="2000" b="0" u="none" strike="noStrike">
              <a:solidFill>
                <a:srgbClr val="000000"/>
              </a:solidFill>
              <a:effectLst/>
              <a:uFillTx/>
              <a:latin typeface="Arial"/>
            </a:endParaRPr>
          </a:p>
          <a:p>
            <a:pPr indent="0" algn="l">
              <a:buNone/>
            </a:pPr>
            <a:r>
              <a:rPr lang="pl-PL" sz="2000" b="0" u="none" strike="noStrike">
                <a:solidFill>
                  <a:srgbClr val="000000"/>
                </a:solidFill>
                <a:effectLst/>
                <a:uFillTx/>
                <a:latin typeface="Arial"/>
              </a:rPr>
              <a:t>The local element contributions must then be accumulated at shared nodes. On the GPU, this is handled using atomic updates or element colouring.</a:t>
            </a:r>
            <a:endParaRPr lang="pl-PL" sz="2000" b="0" u="none" strike="noStrike">
              <a:solidFill>
                <a:srgbClr val="000000"/>
              </a:solidFill>
              <a:effectLst/>
              <a:uFillTx/>
              <a:latin typeface="Arial"/>
            </a:endParaRPr>
          </a:p>
          <a:p>
            <a:pPr indent="0" algn="l">
              <a:buNone/>
            </a:pPr>
            <a:r>
              <a:rPr lang="pl-PL" sz="2000" b="0" u="none" strike="noStrike">
                <a:solidFill>
                  <a:srgbClr val="000000"/>
                </a:solidFill>
                <a:effectLst/>
                <a:uFillTx/>
                <a:latin typeface="Arial"/>
              </a:rPr>
              <a:t>So the Element-by-Element formulation provides both a major reduction in memory requirements and a computational structure that maps naturally onto GPU execution.</a:t>
            </a:r>
            <a:endParaRPr lang="pl-PL" sz="2000" b="0" u="none" strike="noStrike">
              <a:solidFill>
                <a:srgbClr val="000000"/>
              </a:solidFill>
              <a:effectLst/>
              <a:uFillTx/>
              <a:latin typeface="Arial"/>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 name="PlaceHolder 1"/>
          <p:cNvSpPr>
            <a:spLocks noGrp="1"/>
          </p:cNvSpPr>
          <p:nvPr>
            <p:ph type="sldImg"/>
          </p:nvPr>
        </p:nvSpPr>
        <p:spPr>
          <a:xfrm>
            <a:off x="216360" y="812520"/>
            <a:ext cx="7126920" cy="4008960"/>
          </a:xfrm>
          <a:prstGeom prst="rect">
            <a:avLst/>
          </a:prstGeom>
          <a:ln w="0">
            <a:noFill/>
          </a:ln>
        </p:spPr>
      </p:sp>
      <p:sp>
        <p:nvSpPr>
          <p:cNvPr id="97"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p>
            <a:pPr indent="0" algn="l">
              <a:buNone/>
            </a:pPr>
            <a:r>
              <a:rPr lang="pl-PL" sz="2000" b="0" u="none" strike="noStrike">
                <a:solidFill>
                  <a:srgbClr val="000000"/>
                </a:solidFill>
                <a:effectLst/>
                <a:uFillTx/>
                <a:latin typeface="Arial"/>
              </a:rPr>
              <a:t>After looking at the computational efficiency, I would now like to show a simple global mass-balance verification.</a:t>
            </a:r>
            <a:endParaRPr lang="pl-PL" sz="2000" b="0" u="none" strike="noStrike">
              <a:solidFill>
                <a:srgbClr val="000000"/>
              </a:solidFill>
              <a:effectLst/>
              <a:uFillTx/>
              <a:latin typeface="Arial"/>
            </a:endParaRPr>
          </a:p>
          <a:p>
            <a:pPr indent="0" algn="l">
              <a:buNone/>
            </a:pPr>
            <a:r>
              <a:rPr lang="pl-PL" sz="2000" b="0" u="none" strike="noStrike">
                <a:solidFill>
                  <a:srgbClr val="000000"/>
                </a:solidFill>
                <a:effectLst/>
                <a:uFillTx/>
                <a:latin typeface="Arial"/>
              </a:rPr>
              <a:t>For this test, the source strength is one kilogram per second.</a:t>
            </a:r>
            <a:endParaRPr lang="pl-PL" sz="2000" b="0" u="none" strike="noStrike">
              <a:solidFill>
                <a:srgbClr val="000000"/>
              </a:solidFill>
              <a:effectLst/>
              <a:uFillTx/>
              <a:latin typeface="Arial"/>
            </a:endParaRPr>
          </a:p>
          <a:p>
            <a:pPr indent="0" algn="l">
              <a:buNone/>
            </a:pPr>
            <a:r>
              <a:rPr lang="pl-PL" sz="2000" b="0" u="none" strike="noStrike">
                <a:solidFill>
                  <a:srgbClr val="000000"/>
                </a:solidFill>
                <a:effectLst/>
                <a:uFillTx/>
                <a:latin typeface="Arial"/>
              </a:rPr>
              <a:t>The reaction term is switched off, the deposition parameter alpha is zero, and no Dirichlet concentration constraints are imposed.</a:t>
            </a:r>
            <a:endParaRPr lang="pl-PL" sz="2000" b="0" u="none" strike="noStrike">
              <a:solidFill>
                <a:srgbClr val="000000"/>
              </a:solidFill>
              <a:effectLst/>
              <a:uFillTx/>
              <a:latin typeface="Arial"/>
            </a:endParaRPr>
          </a:p>
          <a:p>
            <a:pPr indent="0" algn="l">
              <a:buNone/>
            </a:pPr>
            <a:r>
              <a:rPr lang="pl-PL" sz="2000" b="0" u="none" strike="noStrike">
                <a:solidFill>
                  <a:srgbClr val="000000"/>
                </a:solidFill>
                <a:effectLst/>
                <a:uFillTx/>
                <a:latin typeface="Arial"/>
              </a:rPr>
              <a:t>Therefore, during the early part of the calculation, before significant pollutant mass leaves the computational domain, the total mass should approximately follow the cumulative source input, Q times t.</a:t>
            </a:r>
            <a:endParaRPr lang="pl-PL" sz="2000" b="0" u="none" strike="noStrike">
              <a:solidFill>
                <a:srgbClr val="000000"/>
              </a:solidFill>
              <a:effectLst/>
              <a:uFillTx/>
              <a:latin typeface="Arial"/>
            </a:endParaRPr>
          </a:p>
          <a:p>
            <a:pPr indent="0" algn="l">
              <a:buNone/>
            </a:pPr>
            <a:r>
              <a:rPr lang="pl-PL" sz="2000" b="0" u="none" strike="noStrike">
                <a:solidFill>
                  <a:srgbClr val="000000"/>
                </a:solidFill>
                <a:effectLst/>
                <a:uFillTx/>
                <a:latin typeface="Arial"/>
              </a:rPr>
              <a:t>The table compares this expected source input with the integrated pollutant mass calculated by Vanadis.</a:t>
            </a:r>
            <a:endParaRPr lang="pl-PL" sz="2000" b="0" u="none" strike="noStrike">
              <a:solidFill>
                <a:srgbClr val="000000"/>
              </a:solidFill>
              <a:effectLst/>
              <a:uFillTx/>
              <a:latin typeface="Arial"/>
            </a:endParaRPr>
          </a:p>
          <a:p>
            <a:pPr indent="0" algn="l">
              <a:spcBef>
                <a:spcPts val="1191"/>
              </a:spcBef>
              <a:spcAft>
                <a:spcPts val="992"/>
              </a:spcAft>
              <a:buNone/>
            </a:pPr>
            <a:r>
              <a:rPr lang="pl-PL" sz="2000" b="0" u="none" strike="noStrike">
                <a:solidFill>
                  <a:srgbClr val="000000"/>
                </a:solidFill>
                <a:effectLst/>
                <a:uFillTx/>
                <a:latin typeface="Arial"/>
              </a:rPr>
              <a:t>At 100 seconds, the difference is only about 0.2 percent, and at 200 seconds it remains below 0.4 percent. </a:t>
            </a:r>
            <a:endParaRPr lang="pl-PL" sz="2000" b="0" u="none" strike="noStrike">
              <a:solidFill>
                <a:srgbClr val="000000"/>
              </a:solidFill>
              <a:effectLst/>
              <a:uFillTx/>
              <a:latin typeface="Arial"/>
            </a:endParaRPr>
          </a:p>
          <a:p>
            <a:pPr indent="0" algn="l">
              <a:spcBef>
                <a:spcPts val="1191"/>
              </a:spcBef>
              <a:spcAft>
                <a:spcPts val="992"/>
              </a:spcAft>
              <a:buNone/>
            </a:pPr>
            <a:r>
              <a:rPr lang="pl-PL" sz="2000" b="0" u="none" strike="noStrike">
                <a:solidFill>
                  <a:srgbClr val="000000"/>
                </a:solidFill>
                <a:effectLst/>
                <a:uFillTx/>
                <a:latin typeface="Arial"/>
              </a:rPr>
              <a:t>Up to 600 seconds, the maximum difference remains about 3.4 percent.</a:t>
            </a:r>
            <a:endParaRPr lang="pl-PL" sz="2000" b="0" u="none" strike="noStrike">
              <a:solidFill>
                <a:srgbClr val="000000"/>
              </a:solidFill>
              <a:effectLst/>
              <a:uFillTx/>
              <a:latin typeface="Arial"/>
            </a:endParaRPr>
          </a:p>
          <a:p>
            <a:pPr indent="0" algn="l">
              <a:spcBef>
                <a:spcPts val="1191"/>
              </a:spcBef>
              <a:spcAft>
                <a:spcPts val="992"/>
              </a:spcAft>
              <a:buNone/>
            </a:pPr>
            <a:r>
              <a:rPr lang="pl-PL" sz="2000" b="0" u="none" strike="noStrike">
                <a:solidFill>
                  <a:srgbClr val="000000"/>
                </a:solidFill>
                <a:effectLst/>
                <a:uFillTx/>
                <a:latin typeface="Arial"/>
              </a:rPr>
              <a:t>By 800 seconds, the total mass remaining inside the domain has decreased to about 708 kilograms, compared with 800 kilograms introduced by the source. At this stage, mass outflow through the open boundaries has become significant.</a:t>
            </a:r>
            <a:endParaRPr lang="pl-PL" sz="2000" b="0" u="none" strike="noStrike">
              <a:solidFill>
                <a:srgbClr val="000000"/>
              </a:solidFill>
              <a:effectLst/>
              <a:uFillTx/>
              <a:latin typeface="Arial"/>
            </a:endParaRPr>
          </a:p>
          <a:p>
            <a:pPr indent="0" algn="l">
              <a:spcBef>
                <a:spcPts val="1191"/>
              </a:spcBef>
              <a:spcAft>
                <a:spcPts val="992"/>
              </a:spcAft>
              <a:buNone/>
            </a:pPr>
            <a:r>
              <a:rPr lang="pl-PL" sz="2000" b="0" u="none" strike="noStrike">
                <a:solidFill>
                  <a:srgbClr val="000000"/>
                </a:solidFill>
                <a:effectLst/>
                <a:uFillTx/>
                <a:latin typeface="Arial"/>
              </a:rPr>
              <a:t> At this stage, boundary losses have become significant.</a:t>
            </a:r>
            <a:endParaRPr lang="pl-PL" sz="2000" b="0" u="none" strike="noStrike">
              <a:solidFill>
                <a:srgbClr val="000000"/>
              </a:solidFill>
              <a:effectLst/>
              <a:uFillTx/>
              <a:latin typeface="Arial"/>
            </a:endParaRPr>
          </a:p>
          <a:p>
            <a:pPr indent="0" algn="l">
              <a:buNone/>
            </a:pPr>
            <a:r>
              <a:rPr lang="pl-PL" sz="2000" b="0" u="none" strike="noStrike">
                <a:solidFill>
                  <a:srgbClr val="000000"/>
                </a:solidFill>
                <a:effectLst/>
                <a:uFillTx/>
                <a:latin typeface="Arial"/>
              </a:rPr>
              <a:t>So this test does not demonstrate exact mass conservation. It shows that, during the early transport phase, the Directional Residual formulation maintains a reasonably good global mass balance.</a:t>
            </a:r>
            <a:endParaRPr lang="pl-PL" sz="2000" b="0" u="none" strike="noStrike">
              <a:solidFill>
                <a:srgbClr val="000000"/>
              </a:solidFill>
              <a:effectLst/>
              <a:uFillTx/>
              <a:latin typeface="Arial"/>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 name="PlaceHolder 1"/>
          <p:cNvSpPr>
            <a:spLocks noGrp="1"/>
          </p:cNvSpPr>
          <p:nvPr>
            <p:ph type="sldImg"/>
          </p:nvPr>
        </p:nvSpPr>
        <p:spPr>
          <a:xfrm>
            <a:off x="216360" y="812520"/>
            <a:ext cx="7126920" cy="4008960"/>
          </a:xfrm>
          <a:prstGeom prst="rect">
            <a:avLst/>
          </a:prstGeom>
          <a:ln w="0">
            <a:noFill/>
          </a:ln>
        </p:spPr>
      </p:sp>
      <p:sp>
        <p:nvSpPr>
          <p:cNvPr id="99"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p>
            <a:pPr indent="0" algn="l">
              <a:buNone/>
            </a:pPr>
            <a:r>
              <a:rPr lang="pl-PL" sz="2000" b="0" u="none" strike="noStrike">
                <a:solidFill>
                  <a:srgbClr val="000000"/>
                </a:solidFill>
                <a:effectLst/>
                <a:uFillTx/>
                <a:latin typeface="Arial"/>
              </a:rPr>
              <a:t>The previous slide considered global mass balance. Here I show a different type of verification, based on comparison with a classical Pasquill dispersion model.</a:t>
            </a:r>
            <a:endParaRPr lang="pl-PL" sz="2000" b="0" u="none" strike="noStrike">
              <a:solidFill>
                <a:srgbClr val="000000"/>
              </a:solidFill>
              <a:effectLst/>
              <a:uFillTx/>
              <a:latin typeface="Arial"/>
            </a:endParaRPr>
          </a:p>
          <a:p>
            <a:pPr indent="0" algn="l">
              <a:buNone/>
            </a:pPr>
            <a:r>
              <a:rPr lang="pl-PL" sz="2000" b="0" u="none" strike="noStrike">
                <a:solidFill>
                  <a:srgbClr val="000000"/>
                </a:solidFill>
                <a:effectLst/>
                <a:uFillTx/>
                <a:latin typeface="Arial"/>
              </a:rPr>
              <a:t>The Pasquill results are shown on the left, and the corresponding Vanadis results are shown on the right.</a:t>
            </a:r>
            <a:endParaRPr lang="pl-PL" sz="2000" b="0" u="none" strike="noStrike">
              <a:solidFill>
                <a:srgbClr val="000000"/>
              </a:solidFill>
              <a:effectLst/>
              <a:uFillTx/>
              <a:latin typeface="Arial"/>
            </a:endParaRPr>
          </a:p>
          <a:p>
            <a:pPr indent="0" algn="l">
              <a:buNone/>
            </a:pPr>
            <a:r>
              <a:rPr lang="pl-PL" sz="2000" b="0" u="none" strike="noStrike">
                <a:solidFill>
                  <a:srgbClr val="000000"/>
                </a:solidFill>
                <a:effectLst/>
                <a:uFillTx/>
                <a:latin typeface="Arial"/>
              </a:rPr>
              <a:t>The upper plots show horizontal ground-level concentration fields, while the lower plots show vertical cross-sections through the plume.</a:t>
            </a:r>
            <a:endParaRPr lang="pl-PL" sz="2000" b="0" u="none" strike="noStrike">
              <a:solidFill>
                <a:srgbClr val="000000"/>
              </a:solidFill>
              <a:effectLst/>
              <a:uFillTx/>
              <a:latin typeface="Arial"/>
            </a:endParaRPr>
          </a:p>
          <a:p>
            <a:pPr indent="0" algn="l">
              <a:buNone/>
            </a:pPr>
            <a:r>
              <a:rPr lang="pl-PL" sz="2000" b="0" u="none" strike="noStrike">
                <a:solidFill>
                  <a:srgbClr val="000000"/>
                </a:solidFill>
                <a:effectLst/>
                <a:uFillTx/>
                <a:latin typeface="Arial"/>
              </a:rPr>
              <a:t>The purpose of this comparison is not to demonstrate point-by-point agreement, because the two models are based on very different formulations.</a:t>
            </a:r>
            <a:endParaRPr lang="pl-PL" sz="2000" b="0" u="none" strike="noStrike">
              <a:solidFill>
                <a:srgbClr val="000000"/>
              </a:solidFill>
              <a:effectLst/>
              <a:uFillTx/>
              <a:latin typeface="Arial"/>
            </a:endParaRPr>
          </a:p>
          <a:p>
            <a:pPr indent="0" algn="l">
              <a:buNone/>
            </a:pPr>
            <a:r>
              <a:rPr lang="pl-PL" sz="2000" b="0" u="none" strike="noStrike">
                <a:solidFill>
                  <a:srgbClr val="000000"/>
                </a:solidFill>
                <a:effectLst/>
                <a:uFillTx/>
                <a:latin typeface="Arial"/>
              </a:rPr>
              <a:t>Instead, I compare the plume location, overall dimensions, and concentration scale.</a:t>
            </a:r>
            <a:endParaRPr lang="pl-PL" sz="2000" b="0" u="none" strike="noStrike">
              <a:solidFill>
                <a:srgbClr val="000000"/>
              </a:solidFill>
              <a:effectLst/>
              <a:uFillTx/>
              <a:latin typeface="Arial"/>
            </a:endParaRPr>
          </a:p>
          <a:p>
            <a:pPr indent="0" algn="l">
              <a:buNone/>
            </a:pPr>
            <a:r>
              <a:rPr lang="pl-PL" sz="2000" b="0" u="none" strike="noStrike">
                <a:solidFill>
                  <a:srgbClr val="000000"/>
                </a:solidFill>
                <a:effectLst/>
                <a:uFillTx/>
                <a:latin typeface="Arial"/>
              </a:rPr>
              <a:t>At ground level, both models give a maximum concentration of about 0.022 milligrams per cubic metre. </a:t>
            </a:r>
            <a:endParaRPr lang="pl-PL" sz="2000" b="0" u="none" strike="noStrike">
              <a:solidFill>
                <a:srgbClr val="000000"/>
              </a:solidFill>
              <a:effectLst/>
              <a:uFillTx/>
              <a:latin typeface="Arial"/>
            </a:endParaRPr>
          </a:p>
          <a:p>
            <a:pPr indent="0" algn="l">
              <a:buNone/>
            </a:pPr>
            <a:r>
              <a:rPr lang="pl-PL" sz="2000" b="0" u="none" strike="noStrike">
                <a:solidFill>
                  <a:srgbClr val="000000"/>
                </a:solidFill>
                <a:effectLst/>
                <a:uFillTx/>
                <a:latin typeface="Arial"/>
              </a:rPr>
              <a:t>The vertical cross-sections also show a similar concentration range and a comparable plume extent.</a:t>
            </a:r>
            <a:endParaRPr lang="pl-PL" sz="2000" b="0" u="none" strike="noStrike">
              <a:solidFill>
                <a:srgbClr val="000000"/>
              </a:solidFill>
              <a:effectLst/>
              <a:uFillTx/>
              <a:latin typeface="Arial"/>
            </a:endParaRPr>
          </a:p>
          <a:p>
            <a:pPr indent="0" algn="l">
              <a:buNone/>
            </a:pPr>
            <a:r>
              <a:rPr lang="pl-PL" sz="2000" b="0" u="none" strike="noStrike">
                <a:solidFill>
                  <a:srgbClr val="000000"/>
                </a:solidFill>
                <a:effectLst/>
                <a:uFillTx/>
                <a:latin typeface="Arial"/>
              </a:rPr>
              <a:t>The plume shapes are not identical, and this is expected. The Pasquill model uses a parameterised dispersion formulation, while Vanadis directly solves the three-dimensional transient advection–diffusion equation using finite elements.</a:t>
            </a:r>
            <a:endParaRPr lang="pl-PL" sz="2000" b="0" u="none" strike="noStrike">
              <a:solidFill>
                <a:srgbClr val="000000"/>
              </a:solidFill>
              <a:effectLst/>
              <a:uFillTx/>
              <a:latin typeface="Arial"/>
            </a:endParaRPr>
          </a:p>
          <a:p>
            <a:pPr indent="0" algn="l">
              <a:buNone/>
            </a:pPr>
            <a:r>
              <a:rPr lang="pl-PL" sz="2000" b="0" u="none" strike="noStrike">
                <a:solidFill>
                  <a:srgbClr val="000000"/>
                </a:solidFill>
                <a:effectLst/>
                <a:uFillTx/>
                <a:latin typeface="Arial"/>
              </a:rPr>
              <a:t>So I treat this comparison mainly as a physical-scale check, showing that Vanadis produces a plume with a reasonable position, size, and concentration magnitude.</a:t>
            </a:r>
            <a:endParaRPr lang="pl-PL" sz="2000" b="0" u="none" strike="noStrike">
              <a:solidFill>
                <a:srgbClr val="000000"/>
              </a:solidFill>
              <a:effectLst/>
              <a:uFillTx/>
              <a:latin typeface="Arial"/>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 name="PlaceHolder 1"/>
          <p:cNvSpPr>
            <a:spLocks noGrp="1"/>
          </p:cNvSpPr>
          <p:nvPr>
            <p:ph type="sldImg"/>
          </p:nvPr>
        </p:nvSpPr>
        <p:spPr>
          <a:xfrm>
            <a:off x="216360" y="812520"/>
            <a:ext cx="7126920" cy="4008960"/>
          </a:xfrm>
          <a:prstGeom prst="rect">
            <a:avLst/>
          </a:prstGeom>
          <a:ln w="0">
            <a:noFill/>
          </a:ln>
        </p:spPr>
      </p:sp>
      <p:sp>
        <p:nvSpPr>
          <p:cNvPr id="101"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p>
            <a:pPr indent="0" algn="l">
              <a:buNone/>
            </a:pPr>
            <a:r>
              <a:rPr lang="pl-PL" sz="2000" b="0" u="none" strike="noStrike">
                <a:solidFill>
                  <a:srgbClr val="000000"/>
                </a:solidFill>
                <a:effectLst/>
                <a:uFillTx/>
                <a:latin typeface="Arial"/>
              </a:rPr>
              <a:t>The previous slide showed a static comparison of plume structure. Here I would like to show the transient evolution of the Vanadis solution.</a:t>
            </a:r>
            <a:endParaRPr lang="pl-PL" sz="2000" b="0" u="none" strike="noStrike">
              <a:solidFill>
                <a:srgbClr val="000000"/>
              </a:solidFill>
              <a:effectLst/>
              <a:uFillTx/>
              <a:latin typeface="Arial"/>
            </a:endParaRPr>
          </a:p>
          <a:p>
            <a:pPr indent="0" algn="l">
              <a:buNone/>
            </a:pPr>
            <a:r>
              <a:rPr lang="pl-PL" sz="2000" b="0" u="none" strike="noStrike">
                <a:solidFill>
                  <a:srgbClr val="000000"/>
                </a:solidFill>
                <a:effectLst/>
                <a:uFillTx/>
                <a:latin typeface="Arial"/>
              </a:rPr>
              <a:t>The two animations at the top are from the smaller demonstration mesh.</a:t>
            </a:r>
            <a:endParaRPr lang="pl-PL" sz="2000" b="0" u="none" strike="noStrike">
              <a:solidFill>
                <a:srgbClr val="000000"/>
              </a:solidFill>
              <a:effectLst/>
              <a:uFillTx/>
              <a:latin typeface="Arial"/>
            </a:endParaRPr>
          </a:p>
          <a:p>
            <a:pPr indent="0" algn="l">
              <a:buNone/>
            </a:pPr>
            <a:r>
              <a:rPr lang="pl-PL" sz="2000" b="0" u="none" strike="noStrike">
                <a:solidFill>
                  <a:srgbClr val="000000"/>
                </a:solidFill>
                <a:effectLst/>
                <a:uFillTx/>
                <a:latin typeface="Arial"/>
              </a:rPr>
              <a:t>On the left, you can see the ground-level evolution of the plume, and on the right, the corresponding vertical-plane evolution.</a:t>
            </a:r>
            <a:endParaRPr lang="pl-PL" sz="2000" b="0" u="none" strike="noStrike">
              <a:solidFill>
                <a:srgbClr val="000000"/>
              </a:solidFill>
              <a:effectLst/>
              <a:uFillTx/>
              <a:latin typeface="Arial"/>
            </a:endParaRPr>
          </a:p>
          <a:p>
            <a:pPr indent="0" algn="l">
              <a:buNone/>
            </a:pPr>
            <a:r>
              <a:rPr lang="pl-PL" sz="2000" b="0" u="none" strike="noStrike">
                <a:solidFill>
                  <a:srgbClr val="000000"/>
                </a:solidFill>
                <a:effectLst/>
                <a:uFillTx/>
                <a:latin typeface="Arial"/>
              </a:rPr>
              <a:t>These animations are included mainly to illustrate the transient behaviour of the model.</a:t>
            </a:r>
            <a:endParaRPr lang="pl-PL" sz="2000" b="0" u="none" strike="noStrike">
              <a:solidFill>
                <a:srgbClr val="000000"/>
              </a:solidFill>
              <a:effectLst/>
              <a:uFillTx/>
              <a:latin typeface="Arial"/>
            </a:endParaRPr>
          </a:p>
          <a:p>
            <a:pPr indent="0" algn="l">
              <a:buNone/>
            </a:pPr>
            <a:r>
              <a:rPr lang="pl-PL" sz="2000" b="0" u="none" strike="noStrike">
                <a:solidFill>
                  <a:srgbClr val="000000"/>
                </a:solidFill>
                <a:effectLst/>
                <a:uFillTx/>
                <a:latin typeface="Arial"/>
              </a:rPr>
              <a:t>The performance results in the table below come from a separate large-mesh benchmark with 2.8 million nodes.</a:t>
            </a:r>
            <a:endParaRPr lang="pl-PL" sz="2000" b="0" u="none" strike="noStrike">
              <a:solidFill>
                <a:srgbClr val="000000"/>
              </a:solidFill>
              <a:effectLst/>
              <a:uFillTx/>
              <a:latin typeface="Arial"/>
            </a:endParaRPr>
          </a:p>
          <a:p>
            <a:pPr indent="0" algn="l">
              <a:buNone/>
            </a:pPr>
            <a:r>
              <a:rPr lang="pl-PL" sz="2000" b="0" u="none" strike="noStrike">
                <a:solidFill>
                  <a:srgbClr val="000000"/>
                </a:solidFill>
                <a:effectLst/>
                <a:uFillTx/>
                <a:latin typeface="Arial"/>
              </a:rPr>
              <a:t>In this benchmark, the D-B-C-G iteration count decreases from about 76 to 36 iterations per time step, and this behaviour is the same on the CPU and GPU.</a:t>
            </a:r>
            <a:endParaRPr lang="pl-PL" sz="2000" b="0" u="none" strike="noStrike">
              <a:solidFill>
                <a:srgbClr val="000000"/>
              </a:solidFill>
              <a:effectLst/>
              <a:uFillTx/>
              <a:latin typeface="Arial"/>
            </a:endParaRPr>
          </a:p>
          <a:p>
            <a:pPr indent="0" algn="l">
              <a:buNone/>
            </a:pPr>
            <a:r>
              <a:rPr lang="pl-PL" sz="2000" b="0" u="none" strike="noStrike">
                <a:solidFill>
                  <a:srgbClr val="000000"/>
                </a:solidFill>
                <a:effectLst/>
                <a:uFillTx/>
                <a:latin typeface="Arial"/>
              </a:rPr>
              <a:t>The difference appears in the solution time.</a:t>
            </a:r>
            <a:endParaRPr lang="pl-PL" sz="2000" b="0" u="none" strike="noStrike">
              <a:solidFill>
                <a:srgbClr val="000000"/>
              </a:solidFill>
              <a:effectLst/>
              <a:uFillTx/>
              <a:latin typeface="Arial"/>
            </a:endParaRPr>
          </a:p>
          <a:p>
            <a:pPr indent="0" algn="l">
              <a:buNone/>
            </a:pPr>
            <a:r>
              <a:rPr lang="pl-PL" sz="2000" b="0" u="none" strike="noStrike">
                <a:solidFill>
                  <a:srgbClr val="000000"/>
                </a:solidFill>
                <a:effectLst/>
                <a:uFillTx/>
                <a:latin typeface="Arial"/>
              </a:rPr>
              <a:t>On the CPU, the linear solver requires approximately 20.8 to 9.6 seconds per step.</a:t>
            </a:r>
            <a:endParaRPr lang="pl-PL" sz="2000" b="0" u="none" strike="noStrike">
              <a:solidFill>
                <a:srgbClr val="000000"/>
              </a:solidFill>
              <a:effectLst/>
              <a:uFillTx/>
              <a:latin typeface="Arial"/>
            </a:endParaRPr>
          </a:p>
          <a:p>
            <a:pPr indent="0" algn="l">
              <a:buNone/>
            </a:pPr>
            <a:r>
              <a:rPr lang="pl-PL" sz="2000" b="0" u="none" strike="noStrike">
                <a:solidFill>
                  <a:srgbClr val="000000"/>
                </a:solidFill>
                <a:effectLst/>
                <a:uFillTx/>
                <a:latin typeface="Arial"/>
              </a:rPr>
              <a:t>On the GPU, this is reduced to approximately 8.9 to 6.6 seconds per step.</a:t>
            </a:r>
            <a:endParaRPr lang="pl-PL" sz="2000" b="0" u="none" strike="noStrike">
              <a:solidFill>
                <a:srgbClr val="000000"/>
              </a:solidFill>
              <a:effectLst/>
              <a:uFillTx/>
              <a:latin typeface="Arial"/>
            </a:endParaRPr>
          </a:p>
          <a:p>
            <a:pPr indent="0" algn="l">
              <a:buNone/>
            </a:pPr>
            <a:r>
              <a:rPr lang="pl-PL" sz="2000" b="0" u="none" strike="noStrike">
                <a:solidFill>
                  <a:srgbClr val="000000"/>
                </a:solidFill>
                <a:effectLst/>
                <a:uFillTx/>
                <a:latin typeface="Arial"/>
              </a:rPr>
              <a:t>For 20 time steps, the total runtime is about 20 minutes on the CPU and about 10 minutes on the GPU.</a:t>
            </a:r>
            <a:endParaRPr lang="pl-PL" sz="2000" b="0" u="none" strike="noStrike">
              <a:solidFill>
                <a:srgbClr val="000000"/>
              </a:solidFill>
              <a:effectLst/>
              <a:uFillTx/>
              <a:latin typeface="Arial"/>
            </a:endParaRPr>
          </a:p>
          <a:p>
            <a:pPr indent="0" algn="l">
              <a:buNone/>
            </a:pPr>
            <a:r>
              <a:rPr lang="pl-PL" sz="2000" b="0" u="none" strike="noStrike">
                <a:solidFill>
                  <a:srgbClr val="000000"/>
                </a:solidFill>
                <a:effectLst/>
                <a:uFillTx/>
                <a:latin typeface="Arial"/>
              </a:rPr>
              <a:t>The final residual is essentially identical in both cases, approximately eight point nine times ten to the minus eight.</a:t>
            </a:r>
            <a:endParaRPr lang="pl-PL" sz="2000" b="0" u="none" strike="noStrike">
              <a:solidFill>
                <a:srgbClr val="000000"/>
              </a:solidFill>
              <a:effectLst/>
              <a:uFillTx/>
              <a:latin typeface="Arial"/>
            </a:endParaRPr>
          </a:p>
          <a:p>
            <a:pPr indent="0" algn="l">
              <a:buNone/>
            </a:pPr>
            <a:r>
              <a:rPr lang="pl-PL" sz="2000" b="0" u="none" strike="noStrike">
                <a:solidFill>
                  <a:srgbClr val="000000"/>
                </a:solidFill>
                <a:effectLst/>
                <a:uFillTx/>
                <a:latin typeface="Arial"/>
              </a:rPr>
              <a:t>So the GPU implementation accelerates the solution while preserving the same convergence behaviour and numerical result.</a:t>
            </a:r>
            <a:endParaRPr lang="pl-PL" sz="2000" b="0" u="none" strike="noStrike">
              <a:solidFill>
                <a:srgbClr val="000000"/>
              </a:solidFill>
              <a:effectLst/>
              <a:uFillTx/>
              <a:latin typeface="Arial"/>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 name="PlaceHolder 1"/>
          <p:cNvSpPr>
            <a:spLocks noGrp="1"/>
          </p:cNvSpPr>
          <p:nvPr>
            <p:ph type="sldImg"/>
          </p:nvPr>
        </p:nvSpPr>
        <p:spPr>
          <a:xfrm>
            <a:off x="216360" y="812520"/>
            <a:ext cx="7126920" cy="4008960"/>
          </a:xfrm>
          <a:prstGeom prst="rect">
            <a:avLst/>
          </a:prstGeom>
          <a:ln w="0">
            <a:noFill/>
          </a:ln>
        </p:spPr>
      </p:sp>
      <p:sp>
        <p:nvSpPr>
          <p:cNvPr id="103"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p>
            <a:pPr indent="0" algn="l">
              <a:buNone/>
            </a:pPr>
            <a:r>
              <a:rPr lang="pl-PL" sz="2000" b="0" u="none" strike="noStrike">
                <a:solidFill>
                  <a:srgbClr val="000000"/>
                </a:solidFill>
                <a:effectLst/>
                <a:uFillTx/>
                <a:latin typeface="Arial"/>
              </a:rPr>
              <a:t>The previous slides presented the individual numerical and computational components of Vanadis.</a:t>
            </a:r>
            <a:endParaRPr lang="pl-PL" sz="2000" b="0" u="none" strike="noStrike">
              <a:solidFill>
                <a:srgbClr val="000000"/>
              </a:solidFill>
              <a:effectLst/>
              <a:uFillTx/>
              <a:latin typeface="Arial"/>
            </a:endParaRPr>
          </a:p>
          <a:p>
            <a:pPr indent="0" algn="l">
              <a:buNone/>
            </a:pPr>
            <a:r>
              <a:rPr lang="pl-PL" sz="2000" b="0" u="none" strike="noStrike">
                <a:solidFill>
                  <a:srgbClr val="000000"/>
                </a:solidFill>
                <a:effectLst/>
                <a:uFillTx/>
                <a:latin typeface="Arial"/>
              </a:rPr>
              <a:t>This slide summarises what I consider to be the main strength of the system: these components are designed to work together.</a:t>
            </a:r>
            <a:endParaRPr lang="pl-PL" sz="2000" b="0" u="none" strike="noStrike">
              <a:solidFill>
                <a:srgbClr val="000000"/>
              </a:solidFill>
              <a:effectLst/>
              <a:uFillTx/>
              <a:latin typeface="Arial"/>
            </a:endParaRPr>
          </a:p>
          <a:p>
            <a:pPr indent="0" algn="l">
              <a:buNone/>
            </a:pPr>
            <a:r>
              <a:rPr lang="pl-PL" sz="2000" b="0" u="none" strike="noStrike">
                <a:solidFill>
                  <a:srgbClr val="000000"/>
                </a:solidFill>
                <a:effectLst/>
                <a:uFillTx/>
                <a:latin typeface="Arial"/>
              </a:rPr>
              <a:t>On the numerical side, Directional Residual stabilisation is used for strongly advection-dominated transport.</a:t>
            </a:r>
            <a:endParaRPr lang="pl-PL" sz="2000" b="0" u="none" strike="noStrike">
              <a:solidFill>
                <a:srgbClr val="000000"/>
              </a:solidFill>
              <a:effectLst/>
              <a:uFillTx/>
              <a:latin typeface="Arial"/>
            </a:endParaRPr>
          </a:p>
          <a:p>
            <a:pPr indent="0" algn="l">
              <a:buNone/>
            </a:pPr>
            <a:r>
              <a:rPr lang="pl-PL" sz="2000" b="0" u="none" strike="noStrike">
                <a:solidFill>
                  <a:srgbClr val="000000"/>
                </a:solidFill>
                <a:effectLst/>
                <a:uFillTx/>
                <a:latin typeface="Arial"/>
              </a:rPr>
              <a:t>For time integration, Vanadis uses an implicit theta scheme, with theta equal to two thirds. Directional Residual weighting is also included in the transient matrix. </a:t>
            </a:r>
            <a:endParaRPr lang="pl-PL" sz="2000" b="0" u="none" strike="noStrike">
              <a:solidFill>
                <a:srgbClr val="000000"/>
              </a:solidFill>
              <a:effectLst/>
              <a:uFillTx/>
              <a:latin typeface="Arial"/>
            </a:endParaRPr>
          </a:p>
          <a:p>
            <a:pPr indent="0" algn="l">
              <a:buNone/>
            </a:pPr>
            <a:r>
              <a:rPr lang="pl-PL" sz="2000" b="0" u="none" strike="noStrike">
                <a:solidFill>
                  <a:srgbClr val="000000"/>
                </a:solidFill>
                <a:effectLst/>
                <a:uFillTx/>
                <a:latin typeface="Arial"/>
              </a:rPr>
              <a:t>The Element-by-Element formulation keeps the operators local and significantly reduces the memory requirement.</a:t>
            </a:r>
            <a:endParaRPr lang="pl-PL" sz="2000" b="0" u="none" strike="noStrike">
              <a:solidFill>
                <a:srgbClr val="000000"/>
              </a:solidFill>
              <a:effectLst/>
              <a:uFillTx/>
              <a:latin typeface="Arial"/>
            </a:endParaRPr>
          </a:p>
          <a:p>
            <a:pPr indent="0" algn="l">
              <a:buNone/>
            </a:pPr>
            <a:r>
              <a:rPr lang="pl-PL" sz="2000" b="0" u="none" strike="noStrike">
                <a:solidFill>
                  <a:srgbClr val="000000"/>
                </a:solidFill>
                <a:effectLst/>
                <a:uFillTx/>
                <a:latin typeface="Arial"/>
              </a:rPr>
              <a:t>On the computational side, element assembly can be parallelised on the CPU using OpenMP, while the iterative solution stage can be accelerated on the GPU using CUDA and D-B-C-G.</a:t>
            </a:r>
            <a:endParaRPr lang="pl-PL" sz="2000" b="0" u="none" strike="noStrike">
              <a:solidFill>
                <a:srgbClr val="000000"/>
              </a:solidFill>
              <a:effectLst/>
              <a:uFillTx/>
              <a:latin typeface="Arial"/>
            </a:endParaRPr>
          </a:p>
          <a:p>
            <a:pPr indent="0" algn="l">
              <a:buNone/>
            </a:pPr>
            <a:r>
              <a:rPr lang="pl-PL" sz="2000" b="0" u="none" strike="noStrike">
                <a:solidFill>
                  <a:srgbClr val="000000"/>
                </a:solidFill>
                <a:effectLst/>
                <a:uFillTx/>
                <a:latin typeface="Arial"/>
              </a:rPr>
              <a:t>The low-memory Element-by-Element representation is particularly important because it makes single-GPU execution practical for multi-million-node problems and reduces data-transfer overhead.</a:t>
            </a:r>
            <a:endParaRPr lang="pl-PL" sz="2000" b="0" u="none" strike="noStrike">
              <a:solidFill>
                <a:srgbClr val="000000"/>
              </a:solidFill>
              <a:effectLst/>
              <a:uFillTx/>
              <a:latin typeface="Arial"/>
            </a:endParaRPr>
          </a:p>
          <a:p>
            <a:pPr indent="0" algn="l">
              <a:buNone/>
            </a:pPr>
            <a:r>
              <a:rPr lang="pl-PL" sz="2000" b="0" u="none" strike="noStrike">
                <a:solidFill>
                  <a:srgbClr val="000000"/>
                </a:solidFill>
                <a:effectLst/>
                <a:uFillTx/>
                <a:latin typeface="Arial"/>
              </a:rPr>
              <a:t>This architecture also provides useful hardware scalability, from a relatively low-cost GPU PC to a more powerful workstation.</a:t>
            </a:r>
            <a:endParaRPr lang="pl-PL" sz="2000" b="0" u="none" strike="noStrike">
              <a:solidFill>
                <a:srgbClr val="000000"/>
              </a:solidFill>
              <a:effectLst/>
              <a:uFillTx/>
              <a:latin typeface="Arial"/>
            </a:endParaRPr>
          </a:p>
          <a:p>
            <a:pPr indent="0" algn="l">
              <a:buNone/>
            </a:pPr>
            <a:r>
              <a:rPr lang="pl-PL" sz="2000" b="0" u="none" strike="noStrike">
                <a:solidFill>
                  <a:srgbClr val="000000"/>
                </a:solidFill>
                <a:effectLst/>
                <a:uFillTx/>
                <a:latin typeface="Arial"/>
              </a:rPr>
              <a:t>So the main point is that the performance and robustness of Vanadis come from the coupling of these components, rather than from any single technique alone.</a:t>
            </a:r>
            <a:endParaRPr lang="pl-PL" sz="2000" b="0" u="none" strike="noStrike">
              <a:solidFill>
                <a:srgbClr val="000000"/>
              </a:solidFill>
              <a:effectLst/>
              <a:uFillTx/>
              <a:latin typeface="Arial"/>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 name="PlaceHolder 1"/>
          <p:cNvSpPr>
            <a:spLocks noGrp="1"/>
          </p:cNvSpPr>
          <p:nvPr>
            <p:ph type="sldImg"/>
          </p:nvPr>
        </p:nvSpPr>
        <p:spPr>
          <a:xfrm>
            <a:off x="216360" y="812520"/>
            <a:ext cx="7126920" cy="4008960"/>
          </a:xfrm>
          <a:prstGeom prst="rect">
            <a:avLst/>
          </a:prstGeom>
          <a:ln w="0">
            <a:noFill/>
          </a:ln>
        </p:spPr>
      </p:sp>
      <p:sp>
        <p:nvSpPr>
          <p:cNvPr id="105"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p>
            <a:pPr indent="0" algn="l">
              <a:buNone/>
            </a:pPr>
            <a:r>
              <a:rPr lang="pl-PL" sz="2000" b="0" u="none" strike="noStrike">
                <a:solidFill>
                  <a:srgbClr val="000000"/>
                </a:solidFill>
                <a:effectLst/>
                <a:uFillTx/>
                <a:latin typeface="Arial"/>
              </a:rPr>
              <a:t>To conclude, Vanadis combines Directional Residual stabilisation, low-memory Element-by-Element computation, and CPU/GPU parallelisation in a single three-dimensional atmospheric transport solver.</a:t>
            </a:r>
            <a:endParaRPr lang="pl-PL" sz="2000" b="0" u="none" strike="noStrike">
              <a:solidFill>
                <a:srgbClr val="000000"/>
              </a:solidFill>
              <a:effectLst/>
              <a:uFillTx/>
              <a:latin typeface="Arial"/>
            </a:endParaRPr>
          </a:p>
          <a:p>
            <a:pPr indent="0" algn="l">
              <a:buNone/>
            </a:pPr>
            <a:r>
              <a:rPr lang="pl-PL" sz="2000" b="0" u="none" strike="noStrike">
                <a:solidFill>
                  <a:srgbClr val="000000"/>
                </a:solidFill>
                <a:effectLst/>
                <a:uFillTx/>
                <a:latin typeface="Arial"/>
              </a:rPr>
              <a:t>The complete source code is publicly available, together with the archived release and project documentation.</a:t>
            </a:r>
            <a:endParaRPr lang="pl-PL" sz="2000" b="0" u="none" strike="noStrike">
              <a:solidFill>
                <a:srgbClr val="000000"/>
              </a:solidFill>
              <a:effectLst/>
              <a:uFillTx/>
              <a:latin typeface="Arial"/>
            </a:endParaRPr>
          </a:p>
          <a:p>
            <a:pPr indent="0" algn="l">
              <a:buNone/>
            </a:pPr>
            <a:r>
              <a:rPr lang="pl-PL" sz="2000" b="0" u="none" strike="noStrike">
                <a:solidFill>
                  <a:srgbClr val="000000"/>
                </a:solidFill>
                <a:effectLst/>
                <a:uFillTx/>
                <a:latin typeface="Arial"/>
              </a:rPr>
              <a:t>Anyone interested in the numerical formulation, the GPU implementation, or independent testing of the Directional Residual approach is welcome to inspect and experiment with the code.</a:t>
            </a:r>
            <a:endParaRPr lang="pl-PL" sz="2000" b="0" u="none" strike="noStrike">
              <a:solidFill>
                <a:srgbClr val="000000"/>
              </a:solidFill>
              <a:effectLst/>
              <a:uFillTx/>
              <a:latin typeface="Arial"/>
            </a:endParaRPr>
          </a:p>
          <a:p>
            <a:pPr indent="0" algn="l">
              <a:buNone/>
            </a:pPr>
            <a:r>
              <a:rPr lang="pl-PL" sz="2000" b="0" u="none" strike="noStrike">
                <a:solidFill>
                  <a:srgbClr val="000000"/>
                </a:solidFill>
                <a:effectLst/>
                <a:uFillTx/>
                <a:latin typeface="Arial"/>
              </a:rPr>
              <a:t>The project links and QR code are shown here.</a:t>
            </a:r>
            <a:endParaRPr lang="pl-PL" sz="2000" b="0" u="none" strike="noStrike">
              <a:solidFill>
                <a:srgbClr val="000000"/>
              </a:solidFill>
              <a:effectLst/>
              <a:uFillTx/>
              <a:latin typeface="Arial"/>
            </a:endParaRPr>
          </a:p>
          <a:p>
            <a:pPr indent="0" algn="l">
              <a:buNone/>
            </a:pPr>
            <a:r>
              <a:rPr lang="pl-PL" sz="2000" b="1" u="none" strike="noStrike">
                <a:solidFill>
                  <a:srgbClr val="000000"/>
                </a:solidFill>
                <a:effectLst/>
                <a:uFillTx/>
                <a:latin typeface="Arial"/>
              </a:rPr>
              <a:t>         So, I think that's all from me.</a:t>
            </a:r>
            <a:endParaRPr lang="pl-PL" sz="2000" b="0" u="none" strike="noStrike">
              <a:solidFill>
                <a:srgbClr val="000000"/>
              </a:solidFill>
              <a:effectLst/>
              <a:uFillTx/>
              <a:latin typeface="Arial"/>
            </a:endParaRPr>
          </a:p>
          <a:p>
            <a:pPr indent="0" algn="l">
              <a:buNone/>
            </a:pPr>
            <a:r>
              <a:rPr lang="pl-PL" sz="2000" b="0" u="none" strike="noStrike">
                <a:solidFill>
                  <a:srgbClr val="000000"/>
                </a:solidFill>
                <a:effectLst/>
                <a:uFillTx/>
                <a:latin typeface="Arial"/>
              </a:rPr>
              <a:t>Ladies and gentlemen, thank you very much for your attention. </a:t>
            </a:r>
            <a:endParaRPr lang="pl-PL" sz="2000" b="0" u="none" strike="noStrike">
              <a:solidFill>
                <a:srgbClr val="000000"/>
              </a:solidFill>
              <a:effectLst/>
              <a:uFillTx/>
              <a:latin typeface="Arial"/>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p:spTree>
      <p:nvGrpSpPr>
        <p:cNvPr id="1" name=""/>
        <p:cNvGrpSpPr/>
        <p:nvPr/>
      </p:nvGrpSpPr>
      <p:grpSpPr>
        <a:xfrm>
          <a:off x="0" y="0"/>
          <a:ext cx="0" cy="0"/>
          <a:chOff x="0" y="0"/>
          <a:chExt cx="0" cy="0"/>
        </a:xfrm>
      </p:grpSpPr>
      <p:sp>
        <p:nvSpPr>
          <p:cNvPr id="7" name="PlaceHolder 1"/>
          <p:cNvSpPr>
            <a:spLocks noGrp="1"/>
          </p:cNvSpPr>
          <p:nvPr>
            <p:ph type="title"/>
          </p:nvPr>
        </p:nvSpPr>
        <p:spPr>
          <a:xfrm>
            <a:off x="504000" y="226080"/>
            <a:ext cx="9072000" cy="946440"/>
          </a:xfrm>
          <a:prstGeom prst="rect">
            <a:avLst/>
          </a:prstGeom>
          <a:noFill/>
          <a:ln w="0">
            <a:noFill/>
          </a:ln>
        </p:spPr>
        <p:txBody>
          <a:bodyPr lIns="0" tIns="0" rIns="0" bIns="0" anchor="ctr">
            <a:spAutoFit/>
          </a:bodyPr>
          <a:p>
            <a:pPr indent="0" algn="ctr">
              <a:buNone/>
              <a:tabLst>
                <a:tab pos="0" algn="l"/>
              </a:tabLst>
            </a:pPr>
            <a:endParaRPr lang="pl-PL" sz="4400" b="0" u="none" strike="noStrike">
              <a:solidFill>
                <a:srgbClr val="000000"/>
              </a:solidFill>
              <a:effectLst/>
              <a:uFillTx/>
              <a:latin typeface="Arial"/>
            </a:endParaRPr>
          </a:p>
        </p:txBody>
      </p:sp>
      <p:sp>
        <p:nvSpPr>
          <p:cNvPr id="8" name="PlaceHolder 2"/>
          <p:cNvSpPr>
            <a:spLocks noGrp="1"/>
          </p:cNvSpPr>
          <p:nvPr>
            <p:ph type="subTitle"/>
          </p:nvPr>
        </p:nvSpPr>
        <p:spPr>
          <a:xfrm>
            <a:off x="504000" y="1326600"/>
            <a:ext cx="9072000" cy="3288600"/>
          </a:xfrm>
          <a:prstGeom prst="rect">
            <a:avLst/>
          </a:prstGeom>
          <a:noFill/>
          <a:ln w="0">
            <a:noFill/>
          </a:ln>
        </p:spPr>
        <p:txBody>
          <a:bodyPr lIns="0" tIns="0" rIns="0" bIns="0" anchor="ctr">
            <a:spAutoFit/>
          </a:bodyPr>
          <a:p>
            <a:pPr indent="0" algn="ctr">
              <a:buNone/>
            </a:pPr>
            <a:endParaRPr lang="pl-PL" sz="3200" b="0" u="none" strike="noStrike">
              <a:solidFill>
                <a:srgbClr val="000000"/>
              </a:solidFill>
              <a:effectLst/>
              <a:uFillTx/>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98251E13-874B-4F9A-B333-4557140988DA}" type="slidenum">
              <a:t>&lt;#&gt;</a:t>
            </a:fld>
          </a:p>
        </p:txBody>
      </p:sp>
      <p:sp>
        <p:nvSpPr>
          <p:cNvPr id="6" name="PlaceHolder 5"/>
          <p:cNvSpPr>
            <a:spLocks noGrp="1"/>
          </p:cNvSpPr>
          <p:nvPr>
            <p:ph type="dt" idx="3"/>
          </p:nvPr>
        </p:nvSpPr>
        <p:spPr/>
        <p:txBody>
          <a:bodyPr/>
          <a:p>
            <a:r>
              <a:rPr lang="en-US"/>
              <a:t/>
            </a:r>
          </a:p>
        </p:txBody>
      </p:sp>
    </p:spTree>
  </p:cSld>
  <p:clrMapOvr>
    <a:masterClrMapping/>
  </p:clrMapOvr>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1">
    <p:spTree>
      <p:nvGrpSpPr>
        <p:cNvPr id="1" name=""/>
        <p:cNvGrpSpPr/>
        <p:nvPr/>
      </p:nvGrpSpPr>
      <p:grpSpPr>
        <a:xfrm>
          <a:off x="0" y="0"/>
          <a:ext cx="0" cy="0"/>
          <a:chOff x="0" y="0"/>
          <a:chExt cx="0" cy="0"/>
        </a:xfrm>
      </p:grpSpPr>
      <p:sp>
        <p:nvSpPr>
          <p:cNvPr id="2" name="PlaceHolder 1"/>
          <p:cNvSpPr>
            <a:spLocks noGrp="1"/>
          </p:cNvSpPr>
          <p:nvPr>
            <p:ph type="ftr" idx="4"/>
          </p:nvPr>
        </p:nvSpPr>
        <p:spPr/>
        <p:txBody>
          <a:bodyPr/>
          <a:p>
            <a:r>
              <a:t>Footer</a:t>
            </a:r>
          </a:p>
        </p:txBody>
      </p:sp>
      <p:sp>
        <p:nvSpPr>
          <p:cNvPr id="3" name="PlaceHolder 2"/>
          <p:cNvSpPr>
            <a:spLocks noGrp="1"/>
          </p:cNvSpPr>
          <p:nvPr>
            <p:ph type="sldNum" idx="5"/>
          </p:nvPr>
        </p:nvSpPr>
        <p:spPr/>
        <p:txBody>
          <a:bodyPr/>
          <a:p>
            <a:fld id="{B699B7C0-4FF9-4DF2-8D18-7F6C398F1ED2}" type="slidenum">
              <a:t>&lt;#&gt;</a:t>
            </a:fld>
          </a:p>
        </p:txBody>
      </p:sp>
      <p:sp>
        <p:nvSpPr>
          <p:cNvPr id="4" name="PlaceHolder 3"/>
          <p:cNvSpPr>
            <a:spLocks noGrp="1"/>
          </p:cNvSpPr>
          <p:nvPr>
            <p:ph type="dt" idx="6"/>
          </p:nvPr>
        </p:nvSpPr>
        <p:spPr/>
        <p:txBody>
          <a:bodyPr/>
          <a:p>
            <a:r>
              <a:rPr lang="en-US"/>
              <a:t/>
            </a:r>
          </a:p>
        </p:txBody>
      </p:sp>
    </p:spTree>
  </p:cSld>
  <p:clrMapOvr>
    <a:masterClrMapping/>
  </p:clrMapOvr>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 name="PlaceHolder 1"/>
          <p:cNvSpPr>
            <a:spLocks noGrp="1"/>
          </p:cNvSpPr>
          <p:nvPr>
            <p:ph type="title"/>
          </p:nvPr>
        </p:nvSpPr>
        <p:spPr>
          <a:xfrm>
            <a:off x="504000" y="363600"/>
            <a:ext cx="9071640" cy="670680"/>
          </a:xfrm>
          <a:prstGeom prst="rect">
            <a:avLst/>
          </a:prstGeom>
          <a:noFill/>
          <a:ln w="0">
            <a:noFill/>
          </a:ln>
        </p:spPr>
        <p:txBody>
          <a:bodyPr lIns="0" tIns="0" rIns="0" bIns="0" anchor="ctr">
            <a:noAutofit/>
          </a:bodyPr>
          <a:lstStyle>
            <a:lvl1pPr indent="0" algn="ctr">
              <a:buNone/>
              <a:tabLst>
                <a:tab pos="0" algn="l"/>
              </a:tabLst>
              <a:defRPr lang="pl-PL" sz="4400" b="0" u="none" strike="noStrike">
                <a:solidFill>
                  <a:srgbClr val="000000"/>
                </a:solidFill>
                <a:effectLst/>
                <a:uFillTx/>
                <a:latin typeface="Arial"/>
              </a:defRPr>
            </a:lvl1pPr>
          </a:lstStyle>
          <a:p>
            <a:pPr indent="0" algn="ctr">
              <a:buNone/>
              <a:tabLst>
                <a:tab pos="0" algn="l"/>
              </a:tabLst>
            </a:pPr>
            <a:r>
              <a:rPr lang="pl-PL" sz="4400" b="0" u="none" strike="noStrike">
                <a:solidFill>
                  <a:srgbClr val="000000"/>
                </a:solidFill>
                <a:effectLst/>
                <a:uFillTx/>
                <a:latin typeface="Arial"/>
              </a:rPr>
              <a:t>Click to edit the title text format</a:t>
            </a:r>
            <a:endParaRPr lang="pl-PL" sz="4400" b="0" u="none" strike="noStrike">
              <a:solidFill>
                <a:srgbClr val="000000"/>
              </a:solidFill>
              <a:effectLst/>
              <a:uFillTx/>
              <a:latin typeface="Arial"/>
            </a:endParaRPr>
          </a:p>
        </p:txBody>
      </p:sp>
      <p:sp>
        <p:nvSpPr>
          <p:cNvPr id="3" name="PlaceHolder 2"/>
          <p:cNvSpPr>
            <a:spLocks noGrp="1"/>
          </p:cNvSpPr>
          <p:nvPr>
            <p:ph type="ftr" idx="1"/>
          </p:nvPr>
        </p:nvSpPr>
        <p:spPr>
          <a:xfrm>
            <a:off x="3447360" y="5165280"/>
            <a:ext cx="3193560" cy="389160"/>
          </a:xfrm>
          <a:prstGeom prst="rect">
            <a:avLst/>
          </a:prstGeom>
          <a:noFill/>
          <a:ln w="0">
            <a:noFill/>
          </a:ln>
        </p:spPr>
        <p:txBody>
          <a:bodyPr lIns="0" tIns="0" rIns="0" bIns="0" anchor="t">
            <a:noAutofit/>
          </a:bodyPr>
          <a:lstStyle>
            <a:lvl1pPr indent="0" algn="ctr">
              <a:lnSpc>
                <a:spcPct val="100000"/>
              </a:lnSpc>
              <a:buNone/>
              <a:tabLst>
                <a:tab pos="0" algn="l"/>
              </a:tabLst>
              <a:defRPr lang="pl-PL" sz="1400" b="0" u="none" strike="noStrike">
                <a:solidFill>
                  <a:srgbClr val="000000"/>
                </a:solidFill>
                <a:effectLst/>
                <a:uFillTx/>
                <a:latin typeface="Times New Roman"/>
              </a:defRPr>
            </a:lvl1pPr>
          </a:lstStyle>
          <a:p>
            <a:pPr indent="0" algn="ctr">
              <a:lnSpc>
                <a:spcPct val="100000"/>
              </a:lnSpc>
              <a:buNone/>
              <a:tabLst>
                <a:tab pos="0" algn="l"/>
              </a:tabLst>
            </a:pPr>
            <a:r>
              <a:rPr lang="pl-PL" sz="1400" b="0" u="none" strike="noStrike">
                <a:solidFill>
                  <a:srgbClr val="000000"/>
                </a:solidFill>
                <a:effectLst/>
                <a:uFillTx/>
                <a:latin typeface="Times New Roman"/>
              </a:rPr>
              <a:t>&lt;footer&gt;</a:t>
            </a:r>
            <a:endParaRPr lang="pl-PL" sz="1400" b="0" u="none" strike="noStrike">
              <a:solidFill>
                <a:srgbClr val="000000"/>
              </a:solidFill>
              <a:effectLst/>
              <a:uFillTx/>
              <a:latin typeface="Times New Roman"/>
            </a:endParaRPr>
          </a:p>
        </p:txBody>
      </p:sp>
      <p:sp>
        <p:nvSpPr>
          <p:cNvPr id="4" name="PlaceHolder 3"/>
          <p:cNvSpPr>
            <a:spLocks noGrp="1"/>
          </p:cNvSpPr>
          <p:nvPr>
            <p:ph type="sldNum" idx="2"/>
          </p:nvPr>
        </p:nvSpPr>
        <p:spPr>
          <a:xfrm>
            <a:off x="7227360" y="5165280"/>
            <a:ext cx="2346840" cy="389160"/>
          </a:xfrm>
          <a:prstGeom prst="rect">
            <a:avLst/>
          </a:prstGeom>
          <a:noFill/>
          <a:ln w="0">
            <a:noFill/>
          </a:ln>
        </p:spPr>
        <p:txBody>
          <a:bodyPr lIns="0" tIns="0" rIns="0" bIns="0" anchor="t">
            <a:noAutofit/>
          </a:bodyPr>
          <a:lstStyle>
            <a:lvl1pPr indent="0" algn="r">
              <a:lnSpc>
                <a:spcPct val="100000"/>
              </a:lnSpc>
              <a:buNone/>
              <a:tabLst>
                <a:tab pos="0" algn="l"/>
              </a:tabLst>
              <a:defRPr lang="pl-PL" sz="1400" b="0" u="none" strike="noStrike">
                <a:solidFill>
                  <a:srgbClr val="000000"/>
                </a:solidFill>
                <a:effectLst/>
                <a:uFillTx/>
                <a:latin typeface="Times New Roman"/>
              </a:defRPr>
            </a:lvl1pPr>
          </a:lstStyle>
          <a:p>
            <a:pPr indent="0" algn="r">
              <a:lnSpc>
                <a:spcPct val="100000"/>
              </a:lnSpc>
              <a:buNone/>
              <a:tabLst>
                <a:tab pos="0" algn="l"/>
              </a:tabLst>
            </a:pPr>
            <a:fld id="{6047C420-3671-4D6F-96A6-177242C681D5}" type="slidenum">
              <a:rPr lang="pl-PL" sz="1400" b="0" u="none" strike="noStrike">
                <a:solidFill>
                  <a:srgbClr val="000000"/>
                </a:solidFill>
                <a:effectLst/>
                <a:uFillTx/>
                <a:latin typeface="Times New Roman"/>
              </a:rPr>
              <a:t>&lt;number&gt;</a:t>
            </a:fld>
            <a:endParaRPr lang="pl-PL" sz="1400" b="0" u="none" strike="noStrike">
              <a:solidFill>
                <a:srgbClr val="000000"/>
              </a:solidFill>
              <a:effectLst/>
              <a:uFillTx/>
              <a:latin typeface="Times New Roman"/>
            </a:endParaRPr>
          </a:p>
        </p:txBody>
      </p:sp>
      <p:sp>
        <p:nvSpPr>
          <p:cNvPr id="5" name="PlaceHolder 4"/>
          <p:cNvSpPr>
            <a:spLocks noGrp="1"/>
          </p:cNvSpPr>
          <p:nvPr>
            <p:ph type="dt" idx="3"/>
          </p:nvPr>
        </p:nvSpPr>
        <p:spPr>
          <a:xfrm>
            <a:off x="504000" y="5165280"/>
            <a:ext cx="2346840" cy="389160"/>
          </a:xfrm>
          <a:prstGeom prst="rect">
            <a:avLst/>
          </a:prstGeom>
          <a:noFill/>
          <a:ln w="0">
            <a:noFill/>
          </a:ln>
        </p:spPr>
        <p:txBody>
          <a:bodyPr lIns="0" tIns="0" rIns="0" bIns="0" anchor="t">
            <a:noAutofit/>
          </a:bodyPr>
          <a:lstStyle>
            <a:lvl1pPr indent="0" algn="l">
              <a:buNone/>
              <a:defRPr lang="pl-PL" sz="1400" b="0" u="none" strike="noStrike">
                <a:solidFill>
                  <a:srgbClr val="000000"/>
                </a:solidFill>
                <a:effectLst/>
                <a:uFillTx/>
                <a:latin typeface="Times New Roman"/>
              </a:defRPr>
            </a:lvl1pPr>
          </a:lstStyle>
          <a:p>
            <a:pPr indent="0" algn="l">
              <a:buNone/>
            </a:pPr>
            <a:r>
              <a:rPr lang="pl-PL" sz="1400" b="0" u="none" strike="noStrike">
                <a:solidFill>
                  <a:srgbClr val="000000"/>
                </a:solidFill>
                <a:effectLst/>
                <a:uFillTx/>
                <a:latin typeface="Times New Roman"/>
              </a:rPr>
              <a:t>&lt;date/time&gt;</a:t>
            </a:r>
            <a:endParaRPr lang="pl-PL" sz="1400" b="0" u="none" strike="noStrike">
              <a:solidFill>
                <a:srgbClr val="000000"/>
              </a:solidFill>
              <a:effectLst/>
              <a:uFillTx/>
              <a:latin typeface="Times New Roman"/>
            </a:endParaRPr>
          </a:p>
        </p:txBody>
      </p:sp>
      <p:sp>
        <p:nvSpPr>
          <p:cNvPr id="6" name="PlaceHolder 5"/>
          <p:cNvSpPr>
            <a:spLocks noGrp="1"/>
          </p:cNvSpPr>
          <p:nvPr>
            <p:ph type="body"/>
          </p:nvPr>
        </p:nvSpPr>
        <p:spPr>
          <a:xfrm>
            <a:off x="504000" y="1326600"/>
            <a:ext cx="9072000" cy="328860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pl-PL" sz="32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pl-PL" sz="2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pl-PL" sz="24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pl-PL" sz="20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pl-PL" sz="20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pl-PL" sz="20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pl-PL" sz="2000" b="0" u="none" strike="noStrike">
                <a:solidFill>
                  <a:srgbClr val="000000"/>
                </a:solidFill>
                <a:effectLst/>
                <a:uFillTx/>
                <a:latin typeface="Arial"/>
              </a:defRPr>
            </a:lvl7pPr>
          </a:lstStyle>
          <a:p>
            <a:pPr indent="-324000" algn="l">
              <a:spcBef>
                <a:spcPts val="1417"/>
              </a:spcBef>
              <a:buClr>
                <a:srgbClr val="000000"/>
              </a:buClr>
              <a:buSzPct val="45000"/>
              <a:buFont typeface="Wingdings" charset="2"/>
              <a:buChar char=""/>
            </a:pPr>
            <a:r>
              <a:rPr lang="pl-PL" sz="3200" b="0" u="none" strike="noStrike">
                <a:solidFill>
                  <a:srgbClr val="000000"/>
                </a:solidFill>
                <a:effectLst/>
                <a:uFillTx/>
                <a:latin typeface="Arial"/>
              </a:rPr>
              <a:t>Click to edit the outline text format</a:t>
            </a:r>
            <a:endParaRPr lang="pl-PL" sz="3200" b="0" u="none" strike="noStrike">
              <a:solidFill>
                <a:srgbClr val="000000"/>
              </a:solidFill>
              <a:effectLst/>
              <a:uFillTx/>
              <a:latin typeface="Arial"/>
            </a:endParaRPr>
          </a:p>
          <a:p>
            <a:pPr marL="864000" lvl="1" indent="-324000" algn="l">
              <a:spcBef>
                <a:spcPts val="1134"/>
              </a:spcBef>
              <a:buClr>
                <a:srgbClr val="000000"/>
              </a:buClr>
              <a:buSzPct val="75000"/>
              <a:buFont typeface="Symbol" charset="2"/>
              <a:buChar char=""/>
            </a:pPr>
            <a:r>
              <a:rPr lang="pl-PL" sz="2800" b="0" u="none" strike="noStrike">
                <a:solidFill>
                  <a:srgbClr val="000000"/>
                </a:solidFill>
                <a:effectLst/>
                <a:uFillTx/>
                <a:latin typeface="Arial"/>
              </a:rPr>
              <a:t>Second Outline Level</a:t>
            </a:r>
            <a:endParaRPr lang="pl-PL" sz="2800" b="0" u="none" strike="noStrike">
              <a:solidFill>
                <a:srgbClr val="000000"/>
              </a:solidFill>
              <a:effectLst/>
              <a:uFillTx/>
              <a:latin typeface="Arial"/>
            </a:endParaRPr>
          </a:p>
          <a:p>
            <a:pPr marL="1296000" lvl="2" indent="-288000" algn="l">
              <a:spcBef>
                <a:spcPts val="850"/>
              </a:spcBef>
              <a:buClr>
                <a:srgbClr val="000000"/>
              </a:buClr>
              <a:buSzPct val="45000"/>
              <a:buFont typeface="Wingdings" charset="2"/>
              <a:buChar char=""/>
            </a:pPr>
            <a:r>
              <a:rPr lang="pl-PL" sz="2400" b="0" u="none" strike="noStrike">
                <a:solidFill>
                  <a:srgbClr val="000000"/>
                </a:solidFill>
                <a:effectLst/>
                <a:uFillTx/>
                <a:latin typeface="Arial"/>
              </a:rPr>
              <a:t>Third Outline Level</a:t>
            </a:r>
            <a:endParaRPr lang="pl-PL" sz="2400" b="0" u="none" strike="noStrike">
              <a:solidFill>
                <a:srgbClr val="000000"/>
              </a:solidFill>
              <a:effectLst/>
              <a:uFillTx/>
              <a:latin typeface="Arial"/>
            </a:endParaRPr>
          </a:p>
          <a:p>
            <a:pPr marL="1728000" lvl="3" indent="-216000" algn="l">
              <a:spcBef>
                <a:spcPts val="567"/>
              </a:spcBef>
              <a:buClr>
                <a:srgbClr val="000000"/>
              </a:buClr>
              <a:buSzPct val="75000"/>
              <a:buFont typeface="Symbol" charset="2"/>
              <a:buChar char=""/>
            </a:pPr>
            <a:r>
              <a:rPr lang="pl-PL" sz="2000" b="0" u="none" strike="noStrike">
                <a:solidFill>
                  <a:srgbClr val="000000"/>
                </a:solidFill>
                <a:effectLst/>
                <a:uFillTx/>
                <a:latin typeface="Arial"/>
              </a:rPr>
              <a:t>Fourth Outline Level</a:t>
            </a:r>
            <a:endParaRPr lang="pl-PL" sz="2000" b="0" u="none" strike="noStrike">
              <a:solidFill>
                <a:srgbClr val="000000"/>
              </a:solidFill>
              <a:effectLst/>
              <a:uFillTx/>
              <a:latin typeface="Arial"/>
            </a:endParaRPr>
          </a:p>
          <a:p>
            <a:pPr marL="2160000" lvl="4" indent="-216000" algn="l">
              <a:spcBef>
                <a:spcPts val="283"/>
              </a:spcBef>
              <a:buClr>
                <a:srgbClr val="000000"/>
              </a:buClr>
              <a:buSzPct val="45000"/>
              <a:buFont typeface="Wingdings" charset="2"/>
              <a:buChar char=""/>
            </a:pPr>
            <a:r>
              <a:rPr lang="pl-PL" sz="2000" b="0" u="none" strike="noStrike">
                <a:solidFill>
                  <a:srgbClr val="000000"/>
                </a:solidFill>
                <a:effectLst/>
                <a:uFillTx/>
                <a:latin typeface="Arial"/>
              </a:rPr>
              <a:t>Fifth Outline Level</a:t>
            </a:r>
            <a:endParaRPr lang="pl-PL" sz="2000" b="0" u="none" strike="noStrike">
              <a:solidFill>
                <a:srgbClr val="000000"/>
              </a:solidFill>
              <a:effectLst/>
              <a:uFillTx/>
              <a:latin typeface="Arial"/>
            </a:endParaRPr>
          </a:p>
          <a:p>
            <a:pPr marL="2592000" lvl="5" indent="-216000" algn="l">
              <a:spcBef>
                <a:spcPts val="283"/>
              </a:spcBef>
              <a:buClr>
                <a:srgbClr val="000000"/>
              </a:buClr>
              <a:buSzPct val="45000"/>
              <a:buFont typeface="Wingdings" charset="2"/>
              <a:buChar char=""/>
            </a:pPr>
            <a:r>
              <a:rPr lang="pl-PL" sz="2000" b="0" u="none" strike="noStrike">
                <a:solidFill>
                  <a:srgbClr val="000000"/>
                </a:solidFill>
                <a:effectLst/>
                <a:uFillTx/>
                <a:latin typeface="Arial"/>
              </a:rPr>
              <a:t>Sixth Outline Level</a:t>
            </a:r>
            <a:endParaRPr lang="pl-PL" sz="2000" b="0" u="none" strike="noStrike">
              <a:solidFill>
                <a:srgbClr val="000000"/>
              </a:solidFill>
              <a:effectLst/>
              <a:uFillTx/>
              <a:latin typeface="Arial"/>
            </a:endParaRPr>
          </a:p>
          <a:p>
            <a:pPr marL="3024000" lvl="6" indent="-216000" algn="l">
              <a:spcBef>
                <a:spcPts val="283"/>
              </a:spcBef>
              <a:buClr>
                <a:srgbClr val="000000"/>
              </a:buClr>
              <a:buSzPct val="45000"/>
              <a:buFont typeface="Wingdings" charset="2"/>
              <a:buChar char=""/>
            </a:pPr>
            <a:r>
              <a:rPr lang="pl-PL" sz="2000" b="0" u="none" strike="noStrike">
                <a:solidFill>
                  <a:srgbClr val="000000"/>
                </a:solidFill>
                <a:effectLst/>
                <a:uFillTx/>
                <a:latin typeface="Arial"/>
              </a:rPr>
              <a:t>Seventh Outline Level</a:t>
            </a:r>
            <a:endParaRPr lang="pl-PL" sz="2000" b="0" u="none" strike="noStrike">
              <a:solidFill>
                <a:srgbClr val="000000"/>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 name="PlaceHolder 1"/>
          <p:cNvSpPr>
            <a:spLocks noGrp="1"/>
          </p:cNvSpPr>
          <p:nvPr>
            <p:ph type="ftr" idx="4"/>
          </p:nvPr>
        </p:nvSpPr>
        <p:spPr>
          <a:xfrm>
            <a:off x="3447360" y="5165280"/>
            <a:ext cx="3193560" cy="389160"/>
          </a:xfrm>
          <a:prstGeom prst="rect">
            <a:avLst/>
          </a:prstGeom>
          <a:noFill/>
          <a:ln w="0">
            <a:noFill/>
          </a:ln>
        </p:spPr>
        <p:txBody>
          <a:bodyPr lIns="0" tIns="0" rIns="0" bIns="0" anchor="t">
            <a:noAutofit/>
          </a:bodyPr>
          <a:lstStyle>
            <a:lvl1pPr indent="0" algn="ctr">
              <a:lnSpc>
                <a:spcPct val="100000"/>
              </a:lnSpc>
              <a:buNone/>
              <a:tabLst>
                <a:tab pos="0" algn="l"/>
              </a:tabLst>
              <a:defRPr lang="pl-PL" sz="1400" b="0" u="none" strike="noStrike">
                <a:solidFill>
                  <a:srgbClr val="000000"/>
                </a:solidFill>
                <a:effectLst/>
                <a:uFillTx/>
                <a:latin typeface="Times New Roman"/>
              </a:defRPr>
            </a:lvl1pPr>
          </a:lstStyle>
          <a:p>
            <a:pPr indent="0" algn="ctr">
              <a:lnSpc>
                <a:spcPct val="100000"/>
              </a:lnSpc>
              <a:buNone/>
              <a:tabLst>
                <a:tab pos="0" algn="l"/>
              </a:tabLst>
            </a:pPr>
            <a:r>
              <a:rPr lang="pl-PL" sz="1400" b="0" u="none" strike="noStrike">
                <a:solidFill>
                  <a:srgbClr val="000000"/>
                </a:solidFill>
                <a:effectLst/>
                <a:uFillTx/>
                <a:latin typeface="Times New Roman"/>
              </a:rPr>
              <a:t>&lt;footer&gt;</a:t>
            </a:r>
            <a:endParaRPr lang="pl-PL" sz="1400" b="0" u="none" strike="noStrike">
              <a:solidFill>
                <a:srgbClr val="000000"/>
              </a:solidFill>
              <a:effectLst/>
              <a:uFillTx/>
              <a:latin typeface="Times New Roman"/>
            </a:endParaRPr>
          </a:p>
        </p:txBody>
      </p:sp>
      <p:sp>
        <p:nvSpPr>
          <p:cNvPr id="10" name="PlaceHolder 2"/>
          <p:cNvSpPr>
            <a:spLocks noGrp="1"/>
          </p:cNvSpPr>
          <p:nvPr>
            <p:ph type="sldNum" idx="5"/>
          </p:nvPr>
        </p:nvSpPr>
        <p:spPr>
          <a:xfrm>
            <a:off x="7227360" y="5165280"/>
            <a:ext cx="2346840" cy="389160"/>
          </a:xfrm>
          <a:prstGeom prst="rect">
            <a:avLst/>
          </a:prstGeom>
          <a:noFill/>
          <a:ln w="0">
            <a:noFill/>
          </a:ln>
        </p:spPr>
        <p:txBody>
          <a:bodyPr lIns="0" tIns="0" rIns="0" bIns="0" anchor="t">
            <a:noAutofit/>
          </a:bodyPr>
          <a:lstStyle>
            <a:lvl1pPr indent="0" algn="r">
              <a:lnSpc>
                <a:spcPct val="100000"/>
              </a:lnSpc>
              <a:buNone/>
              <a:tabLst>
                <a:tab pos="0" algn="l"/>
              </a:tabLst>
              <a:defRPr lang="pl-PL" sz="1400" b="0" u="none" strike="noStrike">
                <a:solidFill>
                  <a:srgbClr val="000000"/>
                </a:solidFill>
                <a:effectLst/>
                <a:uFillTx/>
                <a:latin typeface="Times New Roman"/>
              </a:defRPr>
            </a:lvl1pPr>
          </a:lstStyle>
          <a:p>
            <a:pPr indent="0" algn="r">
              <a:lnSpc>
                <a:spcPct val="100000"/>
              </a:lnSpc>
              <a:buNone/>
              <a:tabLst>
                <a:tab pos="0" algn="l"/>
              </a:tabLst>
            </a:pPr>
            <a:fld id="{08A24864-FE98-4A54-96E3-D2E63AADABE5}" type="slidenum">
              <a:rPr lang="pl-PL" sz="1400" b="0" u="none" strike="noStrike">
                <a:solidFill>
                  <a:srgbClr val="000000"/>
                </a:solidFill>
                <a:effectLst/>
                <a:uFillTx/>
                <a:latin typeface="Times New Roman"/>
              </a:rPr>
              <a:t>&lt;number&gt;</a:t>
            </a:fld>
            <a:endParaRPr lang="pl-PL" sz="1400" b="0" u="none" strike="noStrike">
              <a:solidFill>
                <a:srgbClr val="000000"/>
              </a:solidFill>
              <a:effectLst/>
              <a:uFillTx/>
              <a:latin typeface="Times New Roman"/>
            </a:endParaRPr>
          </a:p>
        </p:txBody>
      </p:sp>
      <p:sp>
        <p:nvSpPr>
          <p:cNvPr id="11" name="PlaceHolder 3"/>
          <p:cNvSpPr>
            <a:spLocks noGrp="1"/>
          </p:cNvSpPr>
          <p:nvPr>
            <p:ph type="dt" idx="6"/>
          </p:nvPr>
        </p:nvSpPr>
        <p:spPr>
          <a:xfrm>
            <a:off x="504000" y="5165280"/>
            <a:ext cx="2346840" cy="389160"/>
          </a:xfrm>
          <a:prstGeom prst="rect">
            <a:avLst/>
          </a:prstGeom>
          <a:noFill/>
          <a:ln w="0">
            <a:noFill/>
          </a:ln>
        </p:spPr>
        <p:txBody>
          <a:bodyPr lIns="0" tIns="0" rIns="0" bIns="0" anchor="t">
            <a:noAutofit/>
          </a:bodyPr>
          <a:lstStyle>
            <a:lvl1pPr indent="0" algn="l">
              <a:buNone/>
              <a:defRPr lang="pl-PL" sz="1400" b="0" u="none" strike="noStrike">
                <a:solidFill>
                  <a:srgbClr val="000000"/>
                </a:solidFill>
                <a:effectLst/>
                <a:uFillTx/>
                <a:latin typeface="Times New Roman"/>
              </a:defRPr>
            </a:lvl1pPr>
          </a:lstStyle>
          <a:p>
            <a:pPr indent="0" algn="l">
              <a:buNone/>
            </a:pPr>
            <a:r>
              <a:rPr lang="pl-PL" sz="1400" b="0" u="none" strike="noStrike">
                <a:solidFill>
                  <a:srgbClr val="000000"/>
                </a:solidFill>
                <a:effectLst/>
                <a:uFillTx/>
                <a:latin typeface="Times New Roman"/>
              </a:rPr>
              <a:t>&lt;date/time&gt;</a:t>
            </a:r>
            <a:endParaRPr lang="pl-PL" sz="1400" b="0" u="none" strike="noStrike">
              <a:solidFill>
                <a:srgbClr val="000000"/>
              </a:solidFill>
              <a:effectLst/>
              <a:uFillTx/>
              <a:latin typeface="Times New Roman"/>
            </a:endParaRPr>
          </a:p>
        </p:txBody>
      </p:sp>
      <p:sp>
        <p:nvSpPr>
          <p:cNvPr id="12" name="PlaceHolder 4"/>
          <p:cNvSpPr>
            <a:spLocks noGrp="1"/>
          </p:cNvSpPr>
          <p:nvPr>
            <p:ph type="title"/>
          </p:nvPr>
        </p:nvSpPr>
        <p:spPr>
          <a:xfrm>
            <a:off x="504000" y="226080"/>
            <a:ext cx="9072000" cy="946440"/>
          </a:xfrm>
          <a:prstGeom prst="rect">
            <a:avLst/>
          </a:prstGeom>
          <a:noFill/>
          <a:ln w="0">
            <a:noFill/>
          </a:ln>
        </p:spPr>
        <p:txBody>
          <a:bodyPr lIns="0" tIns="0" rIns="0" bIns="0" anchor="ctr">
            <a:noAutofit/>
          </a:bodyPr>
          <a:lstStyle>
            <a:lvl1pPr indent="0" algn="ctr">
              <a:buNone/>
              <a:tabLst>
                <a:tab pos="0" algn="l"/>
              </a:tabLst>
              <a:defRPr lang="pl-PL" sz="4400" b="0" u="none" strike="noStrike">
                <a:solidFill>
                  <a:srgbClr val="000000"/>
                </a:solidFill>
                <a:effectLst/>
                <a:uFillTx/>
                <a:latin typeface="Arial"/>
              </a:defRPr>
            </a:lvl1pPr>
          </a:lstStyle>
          <a:p>
            <a:pPr indent="0" algn="ctr">
              <a:buNone/>
              <a:tabLst>
                <a:tab pos="0" algn="l"/>
              </a:tabLst>
            </a:pPr>
            <a:r>
              <a:rPr lang="pl-PL" sz="4400" b="0" u="none" strike="noStrike">
                <a:solidFill>
                  <a:srgbClr val="000000"/>
                </a:solidFill>
                <a:effectLst/>
                <a:uFillTx/>
                <a:latin typeface="Arial"/>
              </a:rPr>
              <a:t>Click to edit the title text format</a:t>
            </a:r>
            <a:endParaRPr lang="pl-PL" sz="4400" b="0" u="none" strike="noStrike">
              <a:solidFill>
                <a:srgbClr val="000000"/>
              </a:solidFill>
              <a:effectLst/>
              <a:uFillTx/>
              <a:latin typeface="Arial"/>
            </a:endParaRPr>
          </a:p>
        </p:txBody>
      </p:sp>
      <p:sp>
        <p:nvSpPr>
          <p:cNvPr id="13" name="PlaceHolder 5"/>
          <p:cNvSpPr>
            <a:spLocks noGrp="1"/>
          </p:cNvSpPr>
          <p:nvPr>
            <p:ph type="body"/>
          </p:nvPr>
        </p:nvSpPr>
        <p:spPr>
          <a:xfrm>
            <a:off x="504000" y="1326600"/>
            <a:ext cx="9072000" cy="328860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pl-PL" sz="32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pl-PL" sz="2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pl-PL" sz="24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pl-PL" sz="20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pl-PL" sz="20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pl-PL" sz="20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pl-PL" sz="2000" b="0" u="none" strike="noStrike">
                <a:solidFill>
                  <a:srgbClr val="000000"/>
                </a:solidFill>
                <a:effectLst/>
                <a:uFillTx/>
                <a:latin typeface="Arial"/>
              </a:defRPr>
            </a:lvl7pPr>
          </a:lstStyle>
          <a:p>
            <a:pPr indent="-324000" algn="l">
              <a:spcBef>
                <a:spcPts val="1417"/>
              </a:spcBef>
              <a:buClr>
                <a:srgbClr val="000000"/>
              </a:buClr>
              <a:buSzPct val="45000"/>
              <a:buFont typeface="Wingdings" charset="2"/>
              <a:buChar char=""/>
            </a:pPr>
            <a:r>
              <a:rPr lang="pl-PL" sz="3200" b="0" u="none" strike="noStrike">
                <a:solidFill>
                  <a:srgbClr val="000000"/>
                </a:solidFill>
                <a:effectLst/>
                <a:uFillTx/>
                <a:latin typeface="Arial"/>
              </a:rPr>
              <a:t>Click to edit the outline text format</a:t>
            </a:r>
            <a:endParaRPr lang="pl-PL" sz="3200" b="0" u="none" strike="noStrike">
              <a:solidFill>
                <a:srgbClr val="000000"/>
              </a:solidFill>
              <a:effectLst/>
              <a:uFillTx/>
              <a:latin typeface="Arial"/>
            </a:endParaRPr>
          </a:p>
          <a:p>
            <a:pPr marL="864000" lvl="1" indent="-324000" algn="l">
              <a:spcBef>
                <a:spcPts val="1134"/>
              </a:spcBef>
              <a:buClr>
                <a:srgbClr val="000000"/>
              </a:buClr>
              <a:buSzPct val="75000"/>
              <a:buFont typeface="Symbol" charset="2"/>
              <a:buChar char=""/>
            </a:pPr>
            <a:r>
              <a:rPr lang="pl-PL" sz="2800" b="0" u="none" strike="noStrike">
                <a:solidFill>
                  <a:srgbClr val="000000"/>
                </a:solidFill>
                <a:effectLst/>
                <a:uFillTx/>
                <a:latin typeface="Arial"/>
              </a:rPr>
              <a:t>Second Outline Level</a:t>
            </a:r>
            <a:endParaRPr lang="pl-PL" sz="2800" b="0" u="none" strike="noStrike">
              <a:solidFill>
                <a:srgbClr val="000000"/>
              </a:solidFill>
              <a:effectLst/>
              <a:uFillTx/>
              <a:latin typeface="Arial"/>
            </a:endParaRPr>
          </a:p>
          <a:p>
            <a:pPr marL="1296000" lvl="2" indent="-288000" algn="l">
              <a:spcBef>
                <a:spcPts val="850"/>
              </a:spcBef>
              <a:buClr>
                <a:srgbClr val="000000"/>
              </a:buClr>
              <a:buSzPct val="45000"/>
              <a:buFont typeface="Wingdings" charset="2"/>
              <a:buChar char=""/>
            </a:pPr>
            <a:r>
              <a:rPr lang="pl-PL" sz="2400" b="0" u="none" strike="noStrike">
                <a:solidFill>
                  <a:srgbClr val="000000"/>
                </a:solidFill>
                <a:effectLst/>
                <a:uFillTx/>
                <a:latin typeface="Arial"/>
              </a:rPr>
              <a:t>Third Outline Level</a:t>
            </a:r>
            <a:endParaRPr lang="pl-PL" sz="2400" b="0" u="none" strike="noStrike">
              <a:solidFill>
                <a:srgbClr val="000000"/>
              </a:solidFill>
              <a:effectLst/>
              <a:uFillTx/>
              <a:latin typeface="Arial"/>
            </a:endParaRPr>
          </a:p>
          <a:p>
            <a:pPr marL="1728000" lvl="3" indent="-216000" algn="l">
              <a:spcBef>
                <a:spcPts val="567"/>
              </a:spcBef>
              <a:buClr>
                <a:srgbClr val="000000"/>
              </a:buClr>
              <a:buSzPct val="75000"/>
              <a:buFont typeface="Symbol" charset="2"/>
              <a:buChar char=""/>
            </a:pPr>
            <a:r>
              <a:rPr lang="pl-PL" sz="2000" b="0" u="none" strike="noStrike">
                <a:solidFill>
                  <a:srgbClr val="000000"/>
                </a:solidFill>
                <a:effectLst/>
                <a:uFillTx/>
                <a:latin typeface="Arial"/>
              </a:rPr>
              <a:t>Fourth Outline Level</a:t>
            </a:r>
            <a:endParaRPr lang="pl-PL" sz="2000" b="0" u="none" strike="noStrike">
              <a:solidFill>
                <a:srgbClr val="000000"/>
              </a:solidFill>
              <a:effectLst/>
              <a:uFillTx/>
              <a:latin typeface="Arial"/>
            </a:endParaRPr>
          </a:p>
          <a:p>
            <a:pPr marL="2160000" lvl="4" indent="-216000" algn="l">
              <a:spcBef>
                <a:spcPts val="283"/>
              </a:spcBef>
              <a:buClr>
                <a:srgbClr val="000000"/>
              </a:buClr>
              <a:buSzPct val="45000"/>
              <a:buFont typeface="Wingdings" charset="2"/>
              <a:buChar char=""/>
            </a:pPr>
            <a:r>
              <a:rPr lang="pl-PL" sz="2000" b="0" u="none" strike="noStrike">
                <a:solidFill>
                  <a:srgbClr val="000000"/>
                </a:solidFill>
                <a:effectLst/>
                <a:uFillTx/>
                <a:latin typeface="Arial"/>
              </a:rPr>
              <a:t>Fifth Outline Level</a:t>
            </a:r>
            <a:endParaRPr lang="pl-PL" sz="2000" b="0" u="none" strike="noStrike">
              <a:solidFill>
                <a:srgbClr val="000000"/>
              </a:solidFill>
              <a:effectLst/>
              <a:uFillTx/>
              <a:latin typeface="Arial"/>
            </a:endParaRPr>
          </a:p>
          <a:p>
            <a:pPr marL="2592000" lvl="5" indent="-216000" algn="l">
              <a:spcBef>
                <a:spcPts val="283"/>
              </a:spcBef>
              <a:buClr>
                <a:srgbClr val="000000"/>
              </a:buClr>
              <a:buSzPct val="45000"/>
              <a:buFont typeface="Wingdings" charset="2"/>
              <a:buChar char=""/>
            </a:pPr>
            <a:r>
              <a:rPr lang="pl-PL" sz="2000" b="0" u="none" strike="noStrike">
                <a:solidFill>
                  <a:srgbClr val="000000"/>
                </a:solidFill>
                <a:effectLst/>
                <a:uFillTx/>
                <a:latin typeface="Arial"/>
              </a:rPr>
              <a:t>Sixth Outline Level</a:t>
            </a:r>
            <a:endParaRPr lang="pl-PL" sz="2000" b="0" u="none" strike="noStrike">
              <a:solidFill>
                <a:srgbClr val="000000"/>
              </a:solidFill>
              <a:effectLst/>
              <a:uFillTx/>
              <a:latin typeface="Arial"/>
            </a:endParaRPr>
          </a:p>
          <a:p>
            <a:pPr marL="3024000" lvl="6" indent="-216000" algn="l">
              <a:spcBef>
                <a:spcPts val="283"/>
              </a:spcBef>
              <a:buClr>
                <a:srgbClr val="000000"/>
              </a:buClr>
              <a:buSzPct val="45000"/>
              <a:buFont typeface="Wingdings" charset="2"/>
              <a:buChar char=""/>
            </a:pPr>
            <a:r>
              <a:rPr lang="pl-PL" sz="2000" b="0" u="none" strike="noStrike">
                <a:solidFill>
                  <a:srgbClr val="000000"/>
                </a:solidFill>
                <a:effectLst/>
                <a:uFillTx/>
                <a:latin typeface="Arial"/>
              </a:rPr>
              <a:t>Seventh Outline Level</a:t>
            </a:r>
            <a:endParaRPr lang="pl-PL" sz="2000" b="0" u="none" strike="noStrike">
              <a:solidFill>
                <a:srgbClr val="000000"/>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51" r:id="rId2"/>
  </p:sldLayoutIdLst>
</p:sldMaster>
</file>

<file path=ppt/slides/_rels/slide1.xml.rels><?xml version="1.0" encoding="UTF-8"?>
<Relationships xmlns="http://schemas.openxmlformats.org/package/2006/relationships"><Relationship Id="rId1" Type="http://schemas.openxmlformats.org/officeDocument/2006/relationships/hyperlink" Target="https://marek-ac.meri.pl/" TargetMode="External"/><Relationship Id="rId2" Type="http://schemas.openxmlformats.org/officeDocument/2006/relationships/image" Target="../media/image1.png"/><Relationship Id="rId3" Type="http://schemas.openxmlformats.org/officeDocument/2006/relationships/hyperlink" Target="https://marek-ac.meri.pl/" TargetMode="External"/><Relationship Id="rId4" Type="http://schemas.openxmlformats.org/officeDocument/2006/relationships/hyperlink" Target="https://marek-ac.meri.pl/" TargetMode="External"/><Relationship Id="rId5" Type="http://schemas.openxmlformats.org/officeDocument/2006/relationships/image" Target="../media/image2.gif"/><Relationship Id="rId6" Type="http://schemas.openxmlformats.org/officeDocument/2006/relationships/image" Target="../media/image3.png"/><Relationship Id="rId7" Type="http://schemas.openxmlformats.org/officeDocument/2006/relationships/slideLayout" Target="../slideLayouts/slideLayout1.xml"/><Relationship Id="rId8"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jpeg"/><Relationship Id="rId3" Type="http://schemas.openxmlformats.org/officeDocument/2006/relationships/image" Target="../media/image6.jpeg"/><Relationship Id="rId4" Type="http://schemas.openxmlformats.org/officeDocument/2006/relationships/slideLayout" Target="../slideLayouts/slideLayout2.xml"/><Relationship Id="rId5"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7.tif"/><Relationship Id="rId3" Type="http://schemas.openxmlformats.org/officeDocument/2006/relationships/image" Target="../media/image8.bmp"/><Relationship Id="rId4" Type="http://schemas.openxmlformats.org/officeDocument/2006/relationships/slideLayout" Target="../slideLayouts/slideLayout2.xml"/><Relationship Id="rId5"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9.emf"/><Relationship Id="rId3" Type="http://schemas.openxmlformats.org/officeDocument/2006/relationships/image" Target="../media/image10.emf"/><Relationship Id="rId4" Type="http://schemas.openxmlformats.org/officeDocument/2006/relationships/slideLayout" Target="../slideLayouts/slideLayout2.xml"/><Relationship Id="rId5"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2.xml"/><Relationship Id="rId3"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11.tif"/><Relationship Id="rId3" Type="http://schemas.openxmlformats.org/officeDocument/2006/relationships/image" Target="../media/image12.png"/><Relationship Id="rId4" Type="http://schemas.openxmlformats.org/officeDocument/2006/relationships/slideLayout" Target="../slideLayouts/slideLayout2.xml"/><Relationship Id="rId5"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13.jpeg"/><Relationship Id="rId3" Type="http://schemas.openxmlformats.org/officeDocument/2006/relationships/image" Target="../media/image14.jpeg"/><Relationship Id="rId4" Type="http://schemas.openxmlformats.org/officeDocument/2006/relationships/slideLayout" Target="../slideLayouts/slideLayout2.xml"/><Relationship Id="rId5"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15.gif"/><Relationship Id="rId3" Type="http://schemas.openxmlformats.org/officeDocument/2006/relationships/image" Target="../media/image16.gif"/><Relationship Id="rId4" Type="http://schemas.openxmlformats.org/officeDocument/2006/relationships/image" Target="../media/image17.png"/><Relationship Id="rId5" Type="http://schemas.openxmlformats.org/officeDocument/2006/relationships/slideLayout" Target="../slideLayouts/slideLayout2.xml"/><Relationship Id="rId6"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2.xml"/><Relationship Id="rId3"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hyperlink" Target="https://marek-ac.meri.pl/" TargetMode="External"/><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slideLayout" Target="../slideLayouts/slideLayout2.xml"/><Relationship Id="rId6" Type="http://schemas.openxmlformats.org/officeDocument/2006/relationships/notesSlide" Target="../notesSlides/notesSlide10.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0" name="">
            <a:hlinkClick r:id="rId1"/>
          </p:cNvPr>
          <p:cNvPicPr/>
          <p:nvPr/>
        </p:nvPicPr>
        <p:blipFill>
          <a:blip r:embed="rId2"/>
          <a:stretch/>
        </p:blipFill>
        <p:spPr>
          <a:xfrm>
            <a:off x="0" y="1800"/>
            <a:ext cx="10078560" cy="5668200"/>
          </a:xfrm>
          <a:prstGeom prst="rect">
            <a:avLst/>
          </a:prstGeom>
          <a:noFill/>
          <a:ln w="0">
            <a:noFill/>
          </a:ln>
        </p:spPr>
      </p:pic>
      <p:sp>
        <p:nvSpPr>
          <p:cNvPr id="21" name="">
            <a:hlinkClick r:id="rId3"/>
          </p:cNvPr>
          <p:cNvSpPr/>
          <p:nvPr/>
        </p:nvSpPr>
        <p:spPr>
          <a:xfrm>
            <a:off x="1676520" y="2974320"/>
            <a:ext cx="6963840" cy="334080"/>
          </a:xfrm>
          <a:prstGeom prst="rect">
            <a:avLst/>
          </a:prstGeom>
          <a:noFill/>
          <a:ln w="0">
            <a:noFill/>
          </a:ln>
        </p:spPr>
        <p:style>
          <a:lnRef idx="0"/>
          <a:fillRef idx="0"/>
          <a:effectRef idx="0"/>
          <a:fontRef idx="minor"/>
        </p:style>
        <p:txBody>
          <a:bodyPr lIns="90000" tIns="45000" rIns="90000" bIns="45000" anchor="t" anchorCtr="1">
            <a:spAutoFit/>
          </a:bodyPr>
          <a:p>
            <a:pPr algn="ctr">
              <a:lnSpc>
                <a:spcPct val="100000"/>
              </a:lnSpc>
            </a:pPr>
            <a:r>
              <a:rPr lang="pl-PL" sz="1600" b="0" u="none" strike="noStrike">
                <a:solidFill>
                  <a:srgbClr val="000000"/>
                </a:solidFill>
                <a:effectLst/>
                <a:uFillTx/>
                <a:latin typeface="Arial"/>
                <a:ea typeface="DejaVu Sans"/>
              </a:rPr>
              <a:t>GPU-ACCELERATED IMPLEMENTATION IN THE VANADIS SYSTEM</a:t>
            </a:r>
            <a:endParaRPr lang="pl-PL" sz="1600" b="0" u="none" strike="noStrike">
              <a:solidFill>
                <a:srgbClr val="000000"/>
              </a:solidFill>
              <a:effectLst/>
              <a:uFillTx/>
              <a:latin typeface="Arial"/>
            </a:endParaRPr>
          </a:p>
        </p:txBody>
      </p:sp>
      <p:sp>
        <p:nvSpPr>
          <p:cNvPr id="22" name="">
            <a:hlinkClick r:id="rId4"/>
          </p:cNvPr>
          <p:cNvSpPr/>
          <p:nvPr/>
        </p:nvSpPr>
        <p:spPr>
          <a:xfrm flipH="1">
            <a:off x="90360" y="4493160"/>
            <a:ext cx="2428200" cy="95976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pl-PL" sz="1800" b="1" u="none" strike="noStrike">
                <a:solidFill>
                  <a:srgbClr val="000000"/>
                </a:solidFill>
                <a:effectLst/>
                <a:uFillTx/>
                <a:latin typeface="Arial"/>
                <a:ea typeface="DejaVu Sans"/>
              </a:rPr>
              <a:t>Marek Chodorski</a:t>
            </a:r>
            <a:endParaRPr lang="pl-PL" sz="1800" b="0" u="none" strike="noStrike">
              <a:solidFill>
                <a:srgbClr val="000000"/>
              </a:solidFill>
              <a:effectLst/>
              <a:uFillTx/>
              <a:latin typeface="Arial"/>
            </a:endParaRPr>
          </a:p>
          <a:p>
            <a:pPr>
              <a:lnSpc>
                <a:spcPct val="100000"/>
              </a:lnSpc>
            </a:pPr>
            <a:r>
              <a:rPr lang="pl-PL" sz="1300" b="0" u="none" strike="noStrike">
                <a:solidFill>
                  <a:srgbClr val="000000"/>
                </a:solidFill>
                <a:effectLst/>
                <a:uFillTx/>
                <a:latin typeface="Arial"/>
                <a:ea typeface="DejaVu Sans"/>
              </a:rPr>
              <a:t>Independent Researcher</a:t>
            </a:r>
            <a:endParaRPr lang="pl-PL" sz="1300" b="0" u="none" strike="noStrike">
              <a:solidFill>
                <a:srgbClr val="000000"/>
              </a:solidFill>
              <a:effectLst/>
              <a:uFillTx/>
              <a:latin typeface="Arial"/>
            </a:endParaRPr>
          </a:p>
          <a:p>
            <a:pPr>
              <a:lnSpc>
                <a:spcPct val="100000"/>
              </a:lnSpc>
            </a:pPr>
            <a:r>
              <a:rPr lang="pl-PL" sz="1300" b="0" u="none" strike="noStrike">
                <a:solidFill>
                  <a:srgbClr val="000000"/>
                </a:solidFill>
                <a:effectLst/>
                <a:uFillTx/>
                <a:latin typeface="Arial"/>
                <a:ea typeface="DejaVu Sans"/>
              </a:rPr>
              <a:t>Warsaw, Poland</a:t>
            </a:r>
            <a:endParaRPr lang="pl-PL" sz="1300" b="0" u="none" strike="noStrike">
              <a:solidFill>
                <a:srgbClr val="000000"/>
              </a:solidFill>
              <a:effectLst/>
              <a:uFillTx/>
              <a:latin typeface="Arial"/>
            </a:endParaRPr>
          </a:p>
          <a:p>
            <a:pPr>
              <a:lnSpc>
                <a:spcPct val="100000"/>
              </a:lnSpc>
            </a:pPr>
            <a:r>
              <a:rPr lang="pl-PL" sz="1300" b="0" u="none" strike="noStrike">
                <a:solidFill>
                  <a:srgbClr val="000000"/>
                </a:solidFill>
                <a:effectLst/>
                <a:uFillTx/>
                <a:latin typeface="Arial"/>
                <a:ea typeface="DejaVu Sans"/>
              </a:rPr>
              <a:t>marek_ac@wp.pl</a:t>
            </a:r>
            <a:endParaRPr lang="pl-PL" sz="1300" b="0" u="none" strike="noStrike">
              <a:solidFill>
                <a:srgbClr val="000000"/>
              </a:solidFill>
              <a:effectLst/>
              <a:uFillTx/>
              <a:latin typeface="Arial"/>
            </a:endParaRPr>
          </a:p>
        </p:txBody>
      </p:sp>
      <p:pic>
        <p:nvPicPr>
          <p:cNvPr id="23" name=""/>
          <p:cNvPicPr/>
          <p:nvPr/>
        </p:nvPicPr>
        <p:blipFill>
          <a:blip r:embed="rId5"/>
          <a:stretch/>
        </p:blipFill>
        <p:spPr>
          <a:xfrm>
            <a:off x="1043640" y="1005120"/>
            <a:ext cx="8008920" cy="1560600"/>
          </a:xfrm>
          <a:prstGeom prst="rect">
            <a:avLst/>
          </a:prstGeom>
          <a:noFill/>
          <a:ln w="36000">
            <a:solidFill>
              <a:srgbClr val="FF6D6D"/>
            </a:solidFill>
            <a:round/>
          </a:ln>
        </p:spPr>
      </p:pic>
      <p:sp>
        <p:nvSpPr>
          <p:cNvPr id="24" name=""/>
          <p:cNvSpPr/>
          <p:nvPr/>
        </p:nvSpPr>
        <p:spPr>
          <a:xfrm>
            <a:off x="297000" y="-34920"/>
            <a:ext cx="9654840" cy="60840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endParaRPr lang="pl-PL" sz="1800" b="0" u="none" strike="noStrike">
              <a:solidFill>
                <a:srgbClr val="000000"/>
              </a:solidFill>
              <a:effectLst/>
              <a:uFillTx/>
              <a:latin typeface="Arial"/>
            </a:endParaRPr>
          </a:p>
          <a:p>
            <a:pPr algn="ctr">
              <a:lnSpc>
                <a:spcPct val="100000"/>
              </a:lnSpc>
            </a:pPr>
            <a:r>
              <a:rPr lang="pl-PL" sz="1600" b="0" u="none" strike="noStrike">
                <a:solidFill>
                  <a:srgbClr val="FFFFFF"/>
                </a:solidFill>
                <a:effectLst/>
                <a:uFillTx/>
                <a:latin typeface="Arial"/>
                <a:ea typeface="DejaVu Sans"/>
              </a:rPr>
              <a:t>DIRECTIONAL RESIDUAL STABILISATION FOR HIGH-PÉCLET-NUMBER</a:t>
            </a:r>
            <a:endParaRPr lang="pl-PL" sz="1600" b="0" u="none" strike="noStrike">
              <a:solidFill>
                <a:srgbClr val="000000"/>
              </a:solidFill>
              <a:effectLst/>
              <a:uFillTx/>
              <a:latin typeface="Arial"/>
            </a:endParaRPr>
          </a:p>
        </p:txBody>
      </p:sp>
      <p:pic>
        <p:nvPicPr>
          <p:cNvPr id="25" name=""/>
          <p:cNvPicPr/>
          <p:nvPr/>
        </p:nvPicPr>
        <p:blipFill>
          <a:blip r:embed="rId6"/>
          <a:stretch/>
        </p:blipFill>
        <p:spPr>
          <a:xfrm>
            <a:off x="7962120" y="4526280"/>
            <a:ext cx="2004120" cy="1031760"/>
          </a:xfrm>
          <a:prstGeom prst="rect">
            <a:avLst/>
          </a:prstGeom>
          <a:noFill/>
          <a:ln w="0">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pic>
        <p:nvPicPr>
          <p:cNvPr id="26" name=""/>
          <p:cNvPicPr/>
          <p:nvPr/>
        </p:nvPicPr>
        <p:blipFill>
          <a:blip r:embed="rId2"/>
          <a:stretch/>
        </p:blipFill>
        <p:spPr>
          <a:xfrm>
            <a:off x="146520" y="1292040"/>
            <a:ext cx="3293280" cy="2497680"/>
          </a:xfrm>
          <a:prstGeom prst="rect">
            <a:avLst/>
          </a:prstGeom>
          <a:noFill/>
          <a:ln w="0">
            <a:noFill/>
          </a:ln>
        </p:spPr>
      </p:pic>
      <p:pic>
        <p:nvPicPr>
          <p:cNvPr id="27" name=""/>
          <p:cNvPicPr/>
          <p:nvPr/>
        </p:nvPicPr>
        <p:blipFill>
          <a:blip r:embed="rId3"/>
          <a:stretch/>
        </p:blipFill>
        <p:spPr>
          <a:xfrm>
            <a:off x="151920" y="858960"/>
            <a:ext cx="3284280" cy="432000"/>
          </a:xfrm>
          <a:prstGeom prst="rect">
            <a:avLst/>
          </a:prstGeom>
          <a:noFill/>
          <a:ln w="0">
            <a:noFill/>
          </a:ln>
        </p:spPr>
      </p:pic>
      <p:sp>
        <p:nvSpPr>
          <p:cNvPr id="28" name=""/>
          <p:cNvSpPr/>
          <p:nvPr/>
        </p:nvSpPr>
        <p:spPr>
          <a:xfrm>
            <a:off x="3589200" y="545400"/>
            <a:ext cx="6430680" cy="333648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endParaRPr lang="pl-PL" sz="1800" b="0" u="none" strike="noStrike">
              <a:solidFill>
                <a:srgbClr val="FFFFFF"/>
              </a:solidFill>
              <a:effectLst/>
              <a:uFillTx/>
              <a:latin typeface="Arial"/>
            </a:endParaRPr>
          </a:p>
          <a:p>
            <a:pPr>
              <a:lnSpc>
                <a:spcPct val="100000"/>
              </a:lnSpc>
            </a:pPr>
            <a:endParaRPr lang="pl-PL" sz="1800" b="0" u="none" strike="noStrike">
              <a:solidFill>
                <a:srgbClr val="FFFFFF"/>
              </a:solidFill>
              <a:effectLst/>
              <a:uFillTx/>
              <a:latin typeface="Arial"/>
            </a:endParaRPr>
          </a:p>
          <a:p>
            <a:pPr>
              <a:lnSpc>
                <a:spcPct val="100000"/>
              </a:lnSpc>
            </a:pPr>
            <a:endParaRPr lang="pl-PL" sz="1800" b="0" u="none" strike="noStrike">
              <a:solidFill>
                <a:srgbClr val="FFFFFF"/>
              </a:solidFill>
              <a:effectLst/>
              <a:uFillTx/>
              <a:latin typeface="Arial"/>
            </a:endParaRPr>
          </a:p>
          <a:p>
            <a:pPr>
              <a:lnSpc>
                <a:spcPct val="100000"/>
              </a:lnSpc>
            </a:pPr>
            <a:endParaRPr lang="pl-PL" sz="1800" b="0" u="none" strike="noStrike">
              <a:solidFill>
                <a:srgbClr val="FFFFFF"/>
              </a:solidFill>
              <a:effectLst/>
              <a:uFillTx/>
              <a:latin typeface="Arial"/>
            </a:endParaRPr>
          </a:p>
          <a:p>
            <a:pPr>
              <a:lnSpc>
                <a:spcPct val="100000"/>
              </a:lnSpc>
            </a:pPr>
            <a:r>
              <a:rPr lang="pl-PL" sz="1800" b="0" u="none" strike="noStrike">
                <a:solidFill>
                  <a:srgbClr val="FFFFFF"/>
                </a:solidFill>
                <a:effectLst/>
                <a:uFillTx/>
                <a:latin typeface="Arial"/>
                <a:ea typeface="DejaVu Sans"/>
              </a:rPr>
              <a:t>• 3D transient advection–diffusion–reaction FEM</a:t>
            </a:r>
            <a:endParaRPr lang="pl-PL" sz="1800" b="0" u="none" strike="noStrike">
              <a:solidFill>
                <a:srgbClr val="FFFFFF"/>
              </a:solidFill>
              <a:effectLst/>
              <a:uFillTx/>
              <a:latin typeface="Arial"/>
            </a:endParaRPr>
          </a:p>
          <a:p>
            <a:pPr>
              <a:lnSpc>
                <a:spcPct val="100000"/>
              </a:lnSpc>
            </a:pPr>
            <a:r>
              <a:rPr lang="pl-PL" sz="1800" b="0" u="none" strike="noStrike">
                <a:solidFill>
                  <a:srgbClr val="FFFFFF"/>
                </a:solidFill>
                <a:effectLst/>
                <a:uFillTx/>
                <a:latin typeface="Arial"/>
                <a:ea typeface="DejaVu Sans"/>
              </a:rPr>
              <a:t>• Directional Residual stabilisation for high Pe transport</a:t>
            </a:r>
            <a:endParaRPr lang="pl-PL" sz="1800" b="0" u="none" strike="noStrike">
              <a:solidFill>
                <a:srgbClr val="FFFFFF"/>
              </a:solidFill>
              <a:effectLst/>
              <a:uFillTx/>
              <a:latin typeface="Arial"/>
            </a:endParaRPr>
          </a:p>
          <a:p>
            <a:pPr>
              <a:lnSpc>
                <a:spcPct val="100000"/>
              </a:lnSpc>
            </a:pPr>
            <a:r>
              <a:rPr lang="pl-PL" sz="1800" b="0" u="none" strike="noStrike">
                <a:solidFill>
                  <a:srgbClr val="FFFFFF"/>
                </a:solidFill>
                <a:effectLst/>
                <a:uFillTx/>
                <a:latin typeface="Arial"/>
                <a:ea typeface="DejaVu Sans"/>
              </a:rPr>
              <a:t>• HEX8 elements with implicit θ=2/3 integration</a:t>
            </a:r>
            <a:endParaRPr lang="pl-PL" sz="1800" b="0" u="none" strike="noStrike">
              <a:solidFill>
                <a:srgbClr val="FFFFFF"/>
              </a:solidFill>
              <a:effectLst/>
              <a:uFillTx/>
              <a:latin typeface="Arial"/>
            </a:endParaRPr>
          </a:p>
          <a:p>
            <a:pPr>
              <a:lnSpc>
                <a:spcPct val="100000"/>
              </a:lnSpc>
            </a:pPr>
            <a:r>
              <a:rPr lang="pl-PL" sz="1800" b="0" u="none" strike="noStrike">
                <a:solidFill>
                  <a:srgbClr val="FFFFFF"/>
                </a:solidFill>
                <a:effectLst/>
                <a:uFillTx/>
                <a:latin typeface="Arial"/>
                <a:ea typeface="DejaVu Sans"/>
              </a:rPr>
              <a:t>• EbE + Jacobi-preconditioned DBCG</a:t>
            </a:r>
            <a:endParaRPr lang="pl-PL" sz="1800" b="0" u="none" strike="noStrike">
              <a:solidFill>
                <a:srgbClr val="FFFFFF"/>
              </a:solidFill>
              <a:effectLst/>
              <a:uFillTx/>
              <a:latin typeface="Arial"/>
            </a:endParaRPr>
          </a:p>
          <a:p>
            <a:pPr>
              <a:lnSpc>
                <a:spcPct val="100000"/>
              </a:lnSpc>
            </a:pPr>
            <a:r>
              <a:rPr lang="pl-PL" sz="1800" b="0" u="none" strike="noStrike">
                <a:solidFill>
                  <a:srgbClr val="FFFFFF"/>
                </a:solidFill>
                <a:effectLst/>
                <a:uFillTx/>
                <a:latin typeface="Arial"/>
                <a:ea typeface="DejaVu Sans"/>
              </a:rPr>
              <a:t>• OpenMP CPU / CUDA GPU implementation</a:t>
            </a:r>
            <a:endParaRPr lang="pl-PL" sz="1800" b="0" u="none" strike="noStrike">
              <a:solidFill>
                <a:srgbClr val="FFFFFF"/>
              </a:solidFill>
              <a:effectLst/>
              <a:uFillTx/>
              <a:latin typeface="Arial"/>
            </a:endParaRPr>
          </a:p>
          <a:p>
            <a:pPr>
              <a:lnSpc>
                <a:spcPct val="100000"/>
              </a:lnSpc>
            </a:pPr>
            <a:endParaRPr lang="pl-PL" sz="1800" b="0" u="none" strike="noStrike">
              <a:solidFill>
                <a:srgbClr val="FFFFFF"/>
              </a:solidFill>
              <a:effectLst/>
              <a:uFillTx/>
              <a:latin typeface="Arial"/>
            </a:endParaRPr>
          </a:p>
          <a:p>
            <a:pPr>
              <a:lnSpc>
                <a:spcPct val="100000"/>
              </a:lnSpc>
            </a:pPr>
            <a:endParaRPr lang="pl-PL" sz="1800" b="0" u="none" strike="noStrike">
              <a:solidFill>
                <a:srgbClr val="FFFFFF"/>
              </a:solidFill>
              <a:effectLst/>
              <a:uFillTx/>
              <a:latin typeface="Arial"/>
            </a:endParaRPr>
          </a:p>
          <a:p>
            <a:pPr>
              <a:lnSpc>
                <a:spcPct val="100000"/>
              </a:lnSpc>
            </a:pPr>
            <a:r>
              <a:rPr lang="pl-PL" sz="1500" b="1" u="none" strike="noStrike">
                <a:solidFill>
                  <a:srgbClr val="000000"/>
                </a:solidFill>
                <a:effectLst/>
                <a:uFillTx/>
                <a:latin typeface="Arial"/>
                <a:ea typeface="DejaVu Sans"/>
              </a:rPr>
              <a:t>2.8 M nodes | ~1.4 GB EbE matrices | 6.6–8.9 s GPU solve/step</a:t>
            </a:r>
            <a:endParaRPr lang="pl-PL" sz="1500" b="0" u="none" strike="noStrike">
              <a:solidFill>
                <a:srgbClr val="FFFFFF"/>
              </a:solidFill>
              <a:effectLst/>
              <a:uFillTx/>
              <a:latin typeface="Arial"/>
            </a:endParaRPr>
          </a:p>
        </p:txBody>
      </p:sp>
      <p:sp>
        <p:nvSpPr>
          <p:cNvPr id="29" name=""/>
          <p:cNvSpPr txBox="1"/>
          <p:nvPr/>
        </p:nvSpPr>
        <p:spPr>
          <a:xfrm>
            <a:off x="1863360" y="269280"/>
            <a:ext cx="5991480" cy="559080"/>
          </a:xfrm>
          <a:prstGeom prst="rect">
            <a:avLst/>
          </a:prstGeom>
          <a:noFill/>
          <a:ln w="0">
            <a:noFill/>
          </a:ln>
        </p:spPr>
        <p:txBody>
          <a:bodyPr lIns="90000" tIns="45000" rIns="90000" bIns="45000" anchor="t">
            <a:spAutoFit/>
          </a:bodyPr>
          <a:p>
            <a:pPr>
              <a:lnSpc>
                <a:spcPct val="100000"/>
              </a:lnSpc>
            </a:pPr>
            <a:r>
              <a:rPr lang="pl-PL" sz="1800" b="0" u="none" strike="noStrike">
                <a:solidFill>
                  <a:srgbClr val="FFFFFF"/>
                </a:solidFill>
                <a:effectLst/>
                <a:uFillTx/>
                <a:latin typeface="Arial"/>
                <a:ea typeface="DejaVu Sans"/>
              </a:rPr>
              <a:t>Vanadis — a dynamic 3D atmospheric transport model</a:t>
            </a:r>
            <a:endParaRPr lang="pl-PL" sz="1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pic>
        <p:nvPicPr>
          <p:cNvPr id="30" name=""/>
          <p:cNvPicPr/>
          <p:nvPr/>
        </p:nvPicPr>
        <p:blipFill>
          <a:blip r:embed="rId2"/>
          <a:stretch/>
        </p:blipFill>
        <p:spPr>
          <a:xfrm>
            <a:off x="469440" y="1298880"/>
            <a:ext cx="4239000" cy="3221280"/>
          </a:xfrm>
          <a:prstGeom prst="rect">
            <a:avLst/>
          </a:prstGeom>
          <a:noFill/>
          <a:ln w="0">
            <a:noFill/>
          </a:ln>
        </p:spPr>
      </p:pic>
      <p:sp>
        <p:nvSpPr>
          <p:cNvPr id="31" name=""/>
          <p:cNvSpPr/>
          <p:nvPr/>
        </p:nvSpPr>
        <p:spPr>
          <a:xfrm>
            <a:off x="373680" y="752400"/>
            <a:ext cx="3641400" cy="36468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pl-PL" sz="1800" b="0" u="none" strike="noStrike">
                <a:solidFill>
                  <a:srgbClr val="FFFFFF"/>
                </a:solidFill>
                <a:effectLst/>
                <a:uFillTx/>
                <a:latin typeface="Arial"/>
                <a:ea typeface="Microsoft YaHei"/>
              </a:rPr>
              <a:t>Standard Galerkin </a:t>
            </a:r>
            <a:r>
              <a:rPr lang="pl-PL" sz="1800" b="0" u="none" strike="noStrike">
                <a:solidFill>
                  <a:srgbClr val="FFFFFF"/>
                </a:solidFill>
                <a:effectLst/>
                <a:uFillTx/>
                <a:latin typeface="Arial"/>
                <a:ea typeface="DejaVu Sans"/>
              </a:rPr>
              <a:t>— unstabilised</a:t>
            </a:r>
            <a:endParaRPr lang="pl-PL" sz="1800" b="0" u="none" strike="noStrike">
              <a:solidFill>
                <a:srgbClr val="FFFFFF"/>
              </a:solidFill>
              <a:effectLst/>
              <a:uFillTx/>
              <a:latin typeface="Arial"/>
            </a:endParaRPr>
          </a:p>
        </p:txBody>
      </p:sp>
      <p:sp>
        <p:nvSpPr>
          <p:cNvPr id="32" name=""/>
          <p:cNvSpPr/>
          <p:nvPr/>
        </p:nvSpPr>
        <p:spPr>
          <a:xfrm>
            <a:off x="5227560" y="779760"/>
            <a:ext cx="4067640" cy="364680"/>
          </a:xfrm>
          <a:prstGeom prst="rect">
            <a:avLst/>
          </a:prstGeom>
          <a:noFill/>
          <a:ln w="0">
            <a:noFill/>
          </a:ln>
        </p:spPr>
        <p:style>
          <a:lnRef idx="0"/>
          <a:fillRef idx="0"/>
          <a:effectRef idx="0"/>
          <a:fontRef idx="minor"/>
        </p:style>
        <p:txBody>
          <a:bodyPr wrap="none" lIns="90000" tIns="45000" rIns="90000" bIns="45000" anchor="t">
            <a:spAutoFit/>
          </a:bodyPr>
          <a:p>
            <a:pPr>
              <a:lnSpc>
                <a:spcPct val="100000"/>
              </a:lnSpc>
            </a:pPr>
            <a:r>
              <a:rPr lang="pl-PL" sz="1800" b="0" u="none" strike="noStrike">
                <a:solidFill>
                  <a:srgbClr val="FFFFFF"/>
                </a:solidFill>
                <a:effectLst/>
                <a:uFillTx/>
                <a:latin typeface="Arial"/>
                <a:ea typeface="DejaVu Sans"/>
              </a:rPr>
              <a:t>Directional Residual (DR) — stabilised</a:t>
            </a:r>
            <a:endParaRPr lang="pl-PL" sz="1800" b="0" u="none" strike="noStrike">
              <a:solidFill>
                <a:srgbClr val="FFFFFF"/>
              </a:solidFill>
              <a:effectLst/>
              <a:uFillTx/>
              <a:latin typeface="Arial"/>
            </a:endParaRPr>
          </a:p>
        </p:txBody>
      </p:sp>
      <p:pic>
        <p:nvPicPr>
          <p:cNvPr id="33" name=""/>
          <p:cNvPicPr/>
          <p:nvPr/>
        </p:nvPicPr>
        <p:blipFill>
          <a:blip r:embed="rId3"/>
          <a:stretch/>
        </p:blipFill>
        <p:spPr>
          <a:xfrm>
            <a:off x="5335920" y="1295640"/>
            <a:ext cx="4333320" cy="3292920"/>
          </a:xfrm>
          <a:prstGeom prst="rect">
            <a:avLst/>
          </a:prstGeom>
          <a:noFill/>
          <a:ln w="0">
            <a:noFill/>
          </a:ln>
        </p:spPr>
      </p:pic>
      <p:sp>
        <p:nvSpPr>
          <p:cNvPr id="34" name=""/>
          <p:cNvSpPr/>
          <p:nvPr/>
        </p:nvSpPr>
        <p:spPr>
          <a:xfrm>
            <a:off x="348120" y="4625280"/>
            <a:ext cx="10020600" cy="639000"/>
          </a:xfrm>
          <a:prstGeom prst="rect">
            <a:avLst/>
          </a:prstGeom>
          <a:noFill/>
          <a:ln w="0">
            <a:noFill/>
          </a:ln>
        </p:spPr>
        <p:style>
          <a:lnRef idx="0"/>
          <a:fillRef idx="0"/>
          <a:effectRef idx="0"/>
          <a:fontRef idx="minor"/>
        </p:style>
        <p:txBody>
          <a:bodyPr lIns="90000" tIns="45000" rIns="90000" bIns="45000" anchor="t">
            <a:spAutoFit/>
          </a:bodyPr>
          <a:p>
            <a:pPr algn="ctr">
              <a:lnSpc>
                <a:spcPct val="100000"/>
              </a:lnSpc>
            </a:pPr>
            <a:r>
              <a:rPr lang="pl-PL" sz="1800" b="0" u="none" strike="noStrike">
                <a:solidFill>
                  <a:srgbClr val="FFFFFF"/>
                </a:solidFill>
                <a:effectLst/>
                <a:uFillTx/>
                <a:latin typeface="Arial"/>
                <a:ea typeface="DejaVu Sans"/>
              </a:rPr>
              <a:t>Same mesh and physical parameters. DR suppresses spurious high-Pe oscillations</a:t>
            </a:r>
            <a:endParaRPr lang="pl-PL" sz="1800" b="0" u="none" strike="noStrike">
              <a:solidFill>
                <a:srgbClr val="FFFFFF"/>
              </a:solidFill>
              <a:effectLst/>
              <a:uFillTx/>
              <a:latin typeface="Arial"/>
            </a:endParaRPr>
          </a:p>
          <a:p>
            <a:pPr algn="ctr">
              <a:lnSpc>
                <a:spcPct val="100000"/>
              </a:lnSpc>
            </a:pPr>
            <a:r>
              <a:rPr lang="pl-PL" sz="1800" b="0" u="none" strike="noStrike">
                <a:solidFill>
                  <a:srgbClr val="FFFFFF"/>
                </a:solidFill>
                <a:effectLst/>
                <a:uFillTx/>
                <a:latin typeface="Arial"/>
                <a:ea typeface="DejaVu Sans"/>
              </a:rPr>
              <a:t>without modifying the prescribed physical diffusion coefficients.</a:t>
            </a:r>
            <a:endParaRPr lang="pl-PL" sz="1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35" name=""/>
          <p:cNvSpPr/>
          <p:nvPr/>
        </p:nvSpPr>
        <p:spPr>
          <a:xfrm>
            <a:off x="2941200" y="234720"/>
            <a:ext cx="4664160" cy="364680"/>
          </a:xfrm>
          <a:prstGeom prst="rect">
            <a:avLst/>
          </a:prstGeom>
          <a:noFill/>
          <a:ln w="0">
            <a:noFill/>
          </a:ln>
        </p:spPr>
        <p:style>
          <a:lnRef idx="0"/>
          <a:fillRef idx="0"/>
          <a:effectRef idx="0"/>
          <a:fontRef idx="minor"/>
        </p:style>
        <p:txBody>
          <a:bodyPr lIns="90000" tIns="45000" rIns="90000" bIns="45000" anchor="t">
            <a:spAutoFit/>
          </a:bodyPr>
          <a:p>
            <a:pPr>
              <a:lnSpc>
                <a:spcPct val="100000"/>
              </a:lnSpc>
              <a:spcBef>
                <a:spcPts val="1191"/>
              </a:spcBef>
              <a:spcAft>
                <a:spcPts val="992"/>
              </a:spcAft>
            </a:pPr>
            <a:r>
              <a:rPr lang="pl-PL" sz="1800" b="0" u="none" strike="noStrike">
                <a:solidFill>
                  <a:srgbClr val="FFFFFF"/>
                </a:solidFill>
                <a:effectLst/>
                <a:uFillTx/>
                <a:latin typeface="Arial"/>
                <a:ea typeface="DejaVu Sans"/>
              </a:rPr>
              <a:t>DIRECTIONAL RESIDUAL STABILISATION </a:t>
            </a:r>
            <a:endParaRPr lang="pl-PL" sz="1800" b="0" u="none" strike="noStrike">
              <a:solidFill>
                <a:srgbClr val="FFFFFF"/>
              </a:solidFill>
              <a:effectLst/>
              <a:uFillTx/>
              <a:latin typeface="Arial"/>
            </a:endParaRPr>
          </a:p>
        </p:txBody>
      </p:sp>
      <p:sp>
        <p:nvSpPr>
          <p:cNvPr id="36" name=""/>
          <p:cNvSpPr/>
          <p:nvPr/>
        </p:nvSpPr>
        <p:spPr>
          <a:xfrm>
            <a:off x="348120" y="4625280"/>
            <a:ext cx="10020600" cy="639000"/>
          </a:xfrm>
          <a:prstGeom prst="rect">
            <a:avLst/>
          </a:prstGeom>
          <a:noFill/>
          <a:ln w="0">
            <a:noFill/>
          </a:ln>
        </p:spPr>
        <p:style>
          <a:lnRef idx="0"/>
          <a:fillRef idx="0"/>
          <a:effectRef idx="0"/>
          <a:fontRef idx="minor"/>
        </p:style>
        <p:txBody>
          <a:bodyPr lIns="90000" tIns="45000" rIns="90000" bIns="45000" anchor="t">
            <a:spAutoFit/>
          </a:bodyPr>
          <a:p>
            <a:pPr algn="ctr">
              <a:lnSpc>
                <a:spcPct val="100000"/>
              </a:lnSpc>
            </a:pPr>
            <a:r>
              <a:rPr lang="pl-PL" sz="1800" b="0" u="none" strike="noStrike">
                <a:solidFill>
                  <a:srgbClr val="FFFFFF"/>
                </a:solidFill>
                <a:effectLst/>
                <a:uFillTx/>
                <a:latin typeface="Arial"/>
                <a:ea typeface="DejaVu Sans"/>
              </a:rPr>
              <a:t>Same mesh and physical parameters. DR suppresses spurious high-Pe oscillations</a:t>
            </a:r>
            <a:endParaRPr lang="pl-PL" sz="1800" b="0" u="none" strike="noStrike">
              <a:solidFill>
                <a:srgbClr val="FFFFFF"/>
              </a:solidFill>
              <a:effectLst/>
              <a:uFillTx/>
              <a:latin typeface="Arial"/>
            </a:endParaRPr>
          </a:p>
          <a:p>
            <a:pPr algn="ctr">
              <a:lnSpc>
                <a:spcPct val="100000"/>
              </a:lnSpc>
            </a:pPr>
            <a:r>
              <a:rPr lang="pl-PL" sz="1800" b="0" u="none" strike="noStrike">
                <a:solidFill>
                  <a:srgbClr val="FFFFFF"/>
                </a:solidFill>
                <a:effectLst/>
                <a:uFillTx/>
                <a:latin typeface="Arial"/>
                <a:ea typeface="DejaVu Sans"/>
              </a:rPr>
              <a:t>without modifying the prescribed physical diffusion coefficients.</a:t>
            </a:r>
            <a:endParaRPr lang="pl-PL" sz="1800" b="0" u="none" strike="noStrike">
              <a:solidFill>
                <a:srgbClr val="FFFFFF"/>
              </a:solidFill>
              <a:effectLst/>
              <a:uFillTx/>
              <a:latin typeface="Arial"/>
            </a:endParaRPr>
          </a:p>
        </p:txBody>
      </p:sp>
      <p:sp>
        <p:nvSpPr>
          <p:cNvPr id="37" name=""/>
          <p:cNvSpPr/>
          <p:nvPr/>
        </p:nvSpPr>
        <p:spPr>
          <a:xfrm>
            <a:off x="718200" y="1173600"/>
            <a:ext cx="3200760" cy="437040"/>
          </a:xfrm>
          <a:prstGeom prst="rect">
            <a:avLst/>
          </a:prstGeom>
          <a:blipFill rotWithShape="0">
            <a:blip r:embed="rId2"/>
            <a:srcRect/>
            <a:stretch/>
          </a:blipFill>
          <a:ln w="0">
            <a:noFill/>
          </a:ln>
        </p:spPr>
        <p:style>
          <a:lnRef idx="0"/>
          <a:fillRef idx="0"/>
          <a:effectRef idx="0"/>
          <a:fontRef idx="minor"/>
        </p:style>
        <p:txBody>
          <a:bodyPr lIns="90000" tIns="45000" rIns="90000" bIns="45000" anchor="t">
            <a:noAutofit/>
          </a:bodyPr>
          <a:p>
            <a:pPr/>
            <a:endParaRPr lang="pl-PL" sz="1800" b="0" u="none" strike="noStrike">
              <a:solidFill>
                <a:srgbClr val="000000"/>
              </a:solidFill>
              <a:effectLst/>
              <a:uFillTx/>
              <a:latin typeface="Arial"/>
            </a:endParaRPr>
          </a:p>
        </p:txBody>
      </p:sp>
      <p:sp>
        <p:nvSpPr>
          <p:cNvPr id="38" name=""/>
          <p:cNvSpPr/>
          <p:nvPr/>
        </p:nvSpPr>
        <p:spPr>
          <a:xfrm>
            <a:off x="641880" y="1656720"/>
            <a:ext cx="4215960" cy="243000"/>
          </a:xfrm>
          <a:prstGeom prst="rect">
            <a:avLst/>
          </a:prstGeom>
          <a:noFill/>
          <a:ln w="0">
            <a:noFill/>
          </a:ln>
        </p:spPr>
        <p:style>
          <a:lnRef idx="0"/>
          <a:fillRef idx="0"/>
          <a:effectRef idx="0"/>
          <a:fontRef idx="minor"/>
        </p:style>
        <p:txBody>
          <a:bodyPr wrap="none" lIns="90000" tIns="45000" rIns="90000" bIns="45000" anchor="t">
            <a:spAutoFit/>
          </a:bodyPr>
          <a:p>
            <a:pPr>
              <a:lnSpc>
                <a:spcPct val="100000"/>
              </a:lnSpc>
            </a:pPr>
            <a:r>
              <a:rPr lang="pl-PL" sz="1000" b="0" u="none" strike="noStrike">
                <a:solidFill>
                  <a:srgbClr val="FFFFFF"/>
                </a:solidFill>
                <a:effectLst/>
                <a:uFillTx/>
                <a:latin typeface="Arial"/>
                <a:ea typeface="DejaVu Sans"/>
              </a:rPr>
              <a:t>Directional modification of the test function along the local flow direction </a:t>
            </a:r>
            <a:endParaRPr lang="pl-PL" sz="1000" b="0" u="none" strike="noStrike">
              <a:solidFill>
                <a:srgbClr val="FFFFFF"/>
              </a:solidFill>
              <a:effectLst/>
              <a:uFillTx/>
              <a:latin typeface="Arial"/>
            </a:endParaRPr>
          </a:p>
        </p:txBody>
      </p:sp>
      <p:sp>
        <p:nvSpPr>
          <p:cNvPr id="39" name=""/>
          <p:cNvSpPr/>
          <p:nvPr/>
        </p:nvSpPr>
        <p:spPr>
          <a:xfrm>
            <a:off x="2788920" y="3265200"/>
            <a:ext cx="4553640" cy="85356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pl-PL" sz="1000" b="1" u="none" strike="noStrike">
                <a:solidFill>
                  <a:srgbClr val="000000"/>
                </a:solidFill>
                <a:effectLst/>
                <a:uFillTx/>
                <a:latin typeface="Arial"/>
                <a:ea typeface="DejaVu Sans"/>
              </a:rPr>
              <a:t>• DR weighting is applied to the transient and advective terms</a:t>
            </a:r>
            <a:endParaRPr lang="pl-PL" sz="1000" b="0" u="none" strike="noStrike">
              <a:solidFill>
                <a:srgbClr val="FFFFFF"/>
              </a:solidFill>
              <a:effectLst/>
              <a:uFillTx/>
              <a:latin typeface="Arial"/>
            </a:endParaRPr>
          </a:p>
          <a:p>
            <a:pPr>
              <a:lnSpc>
                <a:spcPct val="100000"/>
              </a:lnSpc>
            </a:pPr>
            <a:r>
              <a:rPr lang="pl-PL" sz="1000" b="1" u="none" strike="noStrike">
                <a:solidFill>
                  <a:srgbClr val="000000"/>
                </a:solidFill>
                <a:effectLst/>
                <a:uFillTx/>
                <a:latin typeface="Arial"/>
                <a:ea typeface="DejaVu Sans"/>
              </a:rPr>
              <a:t>• Physical diffusion remains in the standard Galerkin form</a:t>
            </a:r>
            <a:endParaRPr lang="pl-PL" sz="1000" b="0" u="none" strike="noStrike">
              <a:solidFill>
                <a:srgbClr val="FFFFFF"/>
              </a:solidFill>
              <a:effectLst/>
              <a:uFillTx/>
              <a:latin typeface="Arial"/>
            </a:endParaRPr>
          </a:p>
          <a:p>
            <a:pPr>
              <a:lnSpc>
                <a:spcPct val="100000"/>
              </a:lnSpc>
            </a:pPr>
            <a:r>
              <a:rPr lang="pl-PL" sz="1000" b="1" u="none" strike="noStrike">
                <a:solidFill>
                  <a:srgbClr val="000000"/>
                </a:solidFill>
                <a:effectLst/>
                <a:uFillTx/>
                <a:latin typeface="Arial"/>
                <a:ea typeface="DejaVu Sans"/>
              </a:rPr>
              <a:t>• τ</a:t>
            </a:r>
            <a:r>
              <a:rPr lang="pl-PL" sz="1000" b="1" u="none" strike="noStrike" baseline="-8000">
                <a:solidFill>
                  <a:srgbClr val="000000"/>
                </a:solidFill>
                <a:effectLst/>
                <a:uFillTx/>
                <a:latin typeface="Arial"/>
                <a:ea typeface="DejaVu Sans"/>
              </a:rPr>
              <a:t>DR​</a:t>
            </a:r>
            <a:r>
              <a:rPr lang="pl-PL" sz="1000" b="1" u="none" strike="noStrike">
                <a:solidFill>
                  <a:srgbClr val="000000"/>
                </a:solidFill>
                <a:effectLst/>
                <a:uFillTx/>
                <a:latin typeface="Arial"/>
                <a:ea typeface="DejaVu Sans"/>
              </a:rPr>
              <a:t> is determined from the local streamwise Péclet number</a:t>
            </a:r>
            <a:endParaRPr lang="pl-PL" sz="1000" b="0" u="none" strike="noStrike">
              <a:solidFill>
                <a:srgbClr val="FFFFFF"/>
              </a:solidFill>
              <a:effectLst/>
              <a:uFillTx/>
              <a:latin typeface="Arial"/>
            </a:endParaRPr>
          </a:p>
          <a:p>
            <a:pPr>
              <a:lnSpc>
                <a:spcPct val="100000"/>
              </a:lnSpc>
            </a:pPr>
            <a:r>
              <a:rPr lang="pl-PL" sz="1000" b="1" u="none" strike="noStrike">
                <a:solidFill>
                  <a:srgbClr val="000000"/>
                </a:solidFill>
                <a:effectLst/>
                <a:uFillTx/>
                <a:latin typeface="Arial"/>
                <a:ea typeface="DejaVu Sans"/>
              </a:rPr>
              <a:t>• Stabilisation adapts to flow direction, element geometry and directional diffusion</a:t>
            </a:r>
            <a:r>
              <a:rPr lang="pl-PL" sz="1000" b="0" u="none" strike="noStrike">
                <a:solidFill>
                  <a:srgbClr val="FFFFFF"/>
                </a:solidFill>
                <a:effectLst/>
                <a:uFillTx/>
                <a:latin typeface="Arial"/>
                <a:ea typeface="DejaVu Sans"/>
              </a:rPr>
              <a:t> </a:t>
            </a:r>
            <a:endParaRPr lang="pl-PL" sz="1000" b="0" u="none" strike="noStrike">
              <a:solidFill>
                <a:srgbClr val="FFFFFF"/>
              </a:solidFill>
              <a:effectLst/>
              <a:uFillTx/>
              <a:latin typeface="Arial"/>
            </a:endParaRPr>
          </a:p>
        </p:txBody>
      </p:sp>
      <p:sp>
        <p:nvSpPr>
          <p:cNvPr id="40" name=""/>
          <p:cNvSpPr/>
          <p:nvPr/>
        </p:nvSpPr>
        <p:spPr>
          <a:xfrm>
            <a:off x="690480" y="2401920"/>
            <a:ext cx="1078920" cy="412200"/>
          </a:xfrm>
          <a:prstGeom prst="rect">
            <a:avLst/>
          </a:prstGeom>
          <a:blipFill rotWithShape="0">
            <a:blip r:embed="rId3"/>
            <a:srcRect/>
            <a:stretch/>
          </a:blipFill>
          <a:ln w="0">
            <a:noFill/>
          </a:ln>
        </p:spPr>
        <p:style>
          <a:lnRef idx="0"/>
          <a:fillRef idx="0"/>
          <a:effectRef idx="0"/>
          <a:fontRef idx="minor"/>
        </p:style>
        <p:txBody>
          <a:bodyPr lIns="90000" tIns="45000" rIns="90000" bIns="45000" anchor="t">
            <a:noAutofit/>
          </a:bodyPr>
          <a:p>
            <a:pPr/>
            <a:endParaRPr lang="pl-PL" sz="1800" b="0" u="none" strike="noStrike">
              <a:solidFill>
                <a:srgbClr val="000000"/>
              </a:solidFill>
              <a:effectLst/>
              <a:uFillTx/>
              <a:latin typeface="Arial"/>
            </a:endParaRPr>
          </a:p>
        </p:txBody>
      </p:sp>
      <p:sp>
        <p:nvSpPr>
          <p:cNvPr id="41" name=""/>
          <p:cNvSpPr/>
          <p:nvPr/>
        </p:nvSpPr>
        <p:spPr>
          <a:xfrm>
            <a:off x="1912320" y="2491920"/>
            <a:ext cx="2518200" cy="24300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pl-PL" sz="1000" b="1" u="none" strike="noStrike">
                <a:solidFill>
                  <a:srgbClr val="000000"/>
                </a:solidFill>
                <a:effectLst/>
                <a:uFillTx/>
                <a:latin typeface="Arial"/>
                <a:ea typeface="DejaVu Sans"/>
              </a:rPr>
              <a:t>Representative test:</a:t>
            </a:r>
            <a:r>
              <a:rPr lang="pl-PL" sz="1000" b="0" u="none" strike="noStrike">
                <a:solidFill>
                  <a:srgbClr val="000000"/>
                </a:solidFill>
                <a:effectLst/>
                <a:uFillTx/>
                <a:latin typeface="Arial"/>
                <a:ea typeface="DejaVu Sans"/>
              </a:rPr>
              <a:t> Pe</a:t>
            </a:r>
            <a:r>
              <a:rPr lang="pl-PL" sz="1000" b="0" u="none" strike="noStrike" baseline="-8000">
                <a:solidFill>
                  <a:srgbClr val="000000"/>
                </a:solidFill>
                <a:effectLst/>
                <a:uFillTx/>
                <a:latin typeface="Arial"/>
                <a:ea typeface="DejaVu Sans"/>
              </a:rPr>
              <a:t>stream​</a:t>
            </a:r>
            <a:r>
              <a:rPr lang="pl-PL" sz="1000" b="0" u="none" strike="noStrike">
                <a:solidFill>
                  <a:srgbClr val="000000"/>
                </a:solidFill>
                <a:effectLst/>
                <a:uFillTx/>
                <a:latin typeface="Arial"/>
                <a:ea typeface="DejaVu Sans"/>
              </a:rPr>
              <a:t>≈3.1–156.3</a:t>
            </a:r>
            <a:r>
              <a:rPr lang="pl-PL" sz="1000" b="0" u="none" strike="noStrike">
                <a:solidFill>
                  <a:srgbClr val="FFFFFF"/>
                </a:solidFill>
                <a:effectLst/>
                <a:uFillTx/>
                <a:latin typeface="Arial"/>
                <a:ea typeface="DejaVu Sans"/>
              </a:rPr>
              <a:t> </a:t>
            </a:r>
            <a:endParaRPr lang="pl-PL" sz="1000" b="0" u="none" strike="noStrike">
              <a:solidFill>
                <a:srgbClr val="FFFFFF"/>
              </a:solidFill>
              <a:effectLst/>
              <a:uFillTx/>
              <a:latin typeface="Arial"/>
            </a:endParaRPr>
          </a:p>
        </p:txBody>
      </p:sp>
      <p:sp>
        <p:nvSpPr>
          <p:cNvPr id="42" name=""/>
          <p:cNvSpPr/>
          <p:nvPr/>
        </p:nvSpPr>
        <p:spPr>
          <a:xfrm>
            <a:off x="3147480" y="579600"/>
            <a:ext cx="4142880" cy="243000"/>
          </a:xfrm>
          <a:prstGeom prst="rect">
            <a:avLst/>
          </a:prstGeom>
          <a:noFill/>
          <a:ln w="0">
            <a:noFill/>
          </a:ln>
        </p:spPr>
        <p:style>
          <a:lnRef idx="0"/>
          <a:fillRef idx="0"/>
          <a:effectRef idx="0"/>
          <a:fontRef idx="minor"/>
        </p:style>
        <p:txBody>
          <a:bodyPr wrap="none" lIns="90000" tIns="45000" rIns="90000" bIns="45000" anchor="t">
            <a:spAutoFit/>
          </a:bodyPr>
          <a:p>
            <a:pPr>
              <a:lnSpc>
                <a:spcPct val="100000"/>
              </a:lnSpc>
            </a:pPr>
            <a:r>
              <a:rPr lang="pl-PL" sz="1000" b="0" u="none" strike="noStrike">
                <a:solidFill>
                  <a:srgbClr val="FFFFFF"/>
                </a:solidFill>
                <a:effectLst/>
                <a:uFillTx/>
                <a:latin typeface="Arial"/>
                <a:ea typeface="DejaVu Sans"/>
              </a:rPr>
              <a:t>Vanadis-specific Petrov–Galerkin formulation, closely related to SUPG </a:t>
            </a:r>
            <a:endParaRPr lang="pl-PL" sz="10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graphicFrame>
        <p:nvGraphicFramePr>
          <p:cNvPr id="43" name=""/>
          <p:cNvGraphicFramePr/>
          <p:nvPr/>
        </p:nvGraphicFramePr>
        <p:xfrm>
          <a:off x="542880" y="2270520"/>
          <a:ext cx="5235480" cy="654840"/>
        </p:xfrm>
        <a:graphic>
          <a:graphicData uri="http://schemas.openxmlformats.org/drawingml/2006/table">
            <a:tbl>
              <a:tblPr/>
              <a:tblGrid>
                <a:gridCol w="1519200"/>
                <a:gridCol w="1699920"/>
                <a:gridCol w="2016720"/>
              </a:tblGrid>
              <a:tr h="423000">
                <a:tc>
                  <a:txBody>
                    <a:bodyPr lIns="36000" tIns="36000" rIns="36000" bIns="36000" anchor="t">
                      <a:noAutofit/>
                    </a:bodyPr>
                    <a:p>
                      <a:pPr algn="ctr">
                        <a:lnSpc>
                          <a:spcPct val="100000"/>
                        </a:lnSpc>
                      </a:pPr>
                      <a:r>
                        <a:rPr lang="pl-PL" sz="1050" b="1" u="none" strike="noStrike">
                          <a:solidFill>
                            <a:srgbClr val="FFFFFF"/>
                          </a:solidFill>
                          <a:effectLst/>
                          <a:uFillTx/>
                          <a:latin typeface="Arial"/>
                          <a:ea typeface="Arial"/>
                        </a:rPr>
                        <a:t>Dense matrix storage</a:t>
                      </a:r>
                      <a:endParaRPr lang="pl-PL" sz="1050" b="0" u="none" strike="noStrike">
                        <a:solidFill>
                          <a:srgbClr val="FFFFFF"/>
                        </a:solidFill>
                        <a:effectLst/>
                        <a:uFillTx/>
                        <a:latin typeface="Arial"/>
                      </a:endParaRPr>
                    </a:p>
                    <a:p>
                      <a:pPr algn="ctr">
                        <a:lnSpc>
                          <a:spcPct val="100000"/>
                        </a:lnSpc>
                      </a:pPr>
                      <a:r>
                        <a:rPr lang="pl-PL" sz="1050" b="1" u="none" strike="noStrike">
                          <a:solidFill>
                            <a:srgbClr val="FFFFFF"/>
                          </a:solidFill>
                          <a:effectLst/>
                          <a:uFillTx/>
                          <a:latin typeface="Arial"/>
                          <a:ea typeface="Arial"/>
                        </a:rPr>
                        <a:t>[TB]</a:t>
                      </a:r>
                      <a:endParaRPr lang="pl-PL" sz="1050" b="0" u="none" strike="noStrike">
                        <a:solidFill>
                          <a:srgbClr val="FFFFFF"/>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algn="ctr">
                        <a:lnSpc>
                          <a:spcPct val="100000"/>
                        </a:lnSpc>
                      </a:pPr>
                      <a:r>
                        <a:rPr lang="pl-PL" sz="1050" b="1" u="none" strike="noStrike">
                          <a:solidFill>
                            <a:srgbClr val="FFFFFF"/>
                          </a:solidFill>
                          <a:effectLst/>
                          <a:uFillTx/>
                          <a:latin typeface="Arial"/>
                          <a:ea typeface="Arial"/>
                        </a:rPr>
                        <a:t>Banded matrix storage [GB]</a:t>
                      </a:r>
                      <a:endParaRPr lang="pl-PL" sz="1050" b="0" u="none" strike="noStrike">
                        <a:solidFill>
                          <a:srgbClr val="FFFFFF"/>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algn="ctr">
                        <a:lnSpc>
                          <a:spcPct val="100000"/>
                        </a:lnSpc>
                      </a:pPr>
                      <a:r>
                        <a:rPr lang="pl-PL" sz="1050" b="1" u="none" strike="noStrike">
                          <a:solidFill>
                            <a:srgbClr val="FFFFFF"/>
                          </a:solidFill>
                          <a:effectLst/>
                          <a:uFillTx/>
                          <a:latin typeface="Arial"/>
                          <a:ea typeface="Arial"/>
                        </a:rPr>
                        <a:t>Vanadis EbE storage</a:t>
                      </a:r>
                      <a:endParaRPr lang="pl-PL" sz="1050" b="0" u="none" strike="noStrike">
                        <a:solidFill>
                          <a:srgbClr val="FFFFFF"/>
                        </a:solidFill>
                        <a:effectLst/>
                        <a:uFillTx/>
                        <a:latin typeface="Arial"/>
                      </a:endParaRPr>
                    </a:p>
                    <a:p>
                      <a:pPr algn="ctr">
                        <a:lnSpc>
                          <a:spcPct val="100000"/>
                        </a:lnSpc>
                      </a:pPr>
                      <a:r>
                        <a:rPr lang="pl-PL" sz="1050" b="1" u="none" strike="noStrike">
                          <a:solidFill>
                            <a:srgbClr val="FFFFFF"/>
                          </a:solidFill>
                          <a:effectLst/>
                          <a:uFillTx/>
                          <a:latin typeface="Arial"/>
                          <a:ea typeface="Arial"/>
                        </a:rPr>
                        <a:t>[GB]</a:t>
                      </a:r>
                      <a:endParaRPr lang="pl-PL" sz="1050" b="0" u="none" strike="noStrike">
                        <a:solidFill>
                          <a:srgbClr val="FFFFFF"/>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231840">
                <a:tc>
                  <a:txBody>
                    <a:bodyPr lIns="36000" tIns="36000" rIns="36000" bIns="36000" anchor="t">
                      <a:noAutofit/>
                    </a:bodyPr>
                    <a:p>
                      <a:pPr algn="ctr">
                        <a:lnSpc>
                          <a:spcPct val="100000"/>
                        </a:lnSpc>
                      </a:pPr>
                      <a:r>
                        <a:rPr lang="pl-PL" sz="1050" b="0" u="none" strike="noStrike">
                          <a:solidFill>
                            <a:srgbClr val="FFFFFF"/>
                          </a:solidFill>
                          <a:effectLst/>
                          <a:uFillTx/>
                          <a:latin typeface="Arial"/>
                          <a:ea typeface="Arial"/>
                        </a:rPr>
                        <a:t>≈ 66</a:t>
                      </a:r>
                      <a:endParaRPr lang="pl-PL" sz="1050" b="0" u="none" strike="noStrike">
                        <a:solidFill>
                          <a:srgbClr val="FFFFFF"/>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algn="ctr">
                        <a:lnSpc>
                          <a:spcPct val="100000"/>
                        </a:lnSpc>
                      </a:pPr>
                      <a:r>
                        <a:rPr lang="pl-PL" sz="1050" b="0" u="none" strike="noStrike">
                          <a:solidFill>
                            <a:srgbClr val="FFFFFF"/>
                          </a:solidFill>
                          <a:effectLst/>
                          <a:uFillTx/>
                          <a:latin typeface="Arial"/>
                          <a:ea typeface="Arial"/>
                        </a:rPr>
                        <a:t>≈ 333</a:t>
                      </a:r>
                      <a:endParaRPr lang="pl-PL" sz="1050" b="0" u="none" strike="noStrike">
                        <a:solidFill>
                          <a:srgbClr val="FFFFFF"/>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algn="ctr">
                        <a:lnSpc>
                          <a:spcPct val="100000"/>
                        </a:lnSpc>
                      </a:pPr>
                      <a:r>
                        <a:rPr lang="pl-PL" sz="1050" b="1" u="none" strike="noStrike">
                          <a:solidFill>
                            <a:srgbClr val="FFFFFF"/>
                          </a:solidFill>
                          <a:effectLst/>
                          <a:uFillTx/>
                          <a:latin typeface="Arial"/>
                          <a:ea typeface="Arial"/>
                        </a:rPr>
                        <a:t>≈ 1.4</a:t>
                      </a:r>
                      <a:endParaRPr lang="pl-PL" sz="1050" b="0" u="none" strike="noStrike">
                        <a:solidFill>
                          <a:srgbClr val="FFFFFF"/>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bl>
          </a:graphicData>
        </a:graphic>
      </p:graphicFrame>
      <p:sp>
        <p:nvSpPr>
          <p:cNvPr id="44" name=""/>
          <p:cNvSpPr/>
          <p:nvPr/>
        </p:nvSpPr>
        <p:spPr>
          <a:xfrm>
            <a:off x="519480" y="1851480"/>
            <a:ext cx="5015880" cy="334080"/>
          </a:xfrm>
          <a:prstGeom prst="rect">
            <a:avLst/>
          </a:prstGeom>
          <a:noFill/>
          <a:ln w="0">
            <a:noFill/>
          </a:ln>
        </p:spPr>
        <p:style>
          <a:lnRef idx="0"/>
          <a:fillRef idx="0"/>
          <a:effectRef idx="0"/>
          <a:fontRef idx="minor"/>
        </p:style>
        <p:txBody>
          <a:bodyPr wrap="none" lIns="90000" tIns="45000" rIns="90000" bIns="45000" anchor="t">
            <a:spAutoFit/>
          </a:bodyPr>
          <a:p>
            <a:pPr>
              <a:lnSpc>
                <a:spcPct val="100000"/>
              </a:lnSpc>
            </a:pPr>
            <a:r>
              <a:rPr lang="pl-PL" sz="1600" b="0" u="none" strike="noStrike">
                <a:solidFill>
                  <a:srgbClr val="FFFFFF"/>
                </a:solidFill>
                <a:effectLst/>
                <a:uFillTx/>
                <a:latin typeface="Arial"/>
                <a:ea typeface="DejaVu Sans"/>
              </a:rPr>
              <a:t>2.8 MILLION NODES — MEMORY REQUIREMENTS</a:t>
            </a:r>
            <a:endParaRPr lang="pl-PL" sz="1600" b="0" u="none" strike="noStrike">
              <a:solidFill>
                <a:srgbClr val="FFFFFF"/>
              </a:solidFill>
              <a:effectLst/>
              <a:uFillTx/>
              <a:latin typeface="Arial"/>
            </a:endParaRPr>
          </a:p>
        </p:txBody>
      </p:sp>
      <p:sp>
        <p:nvSpPr>
          <p:cNvPr id="45" name=""/>
          <p:cNvSpPr/>
          <p:nvPr/>
        </p:nvSpPr>
        <p:spPr>
          <a:xfrm>
            <a:off x="3248280" y="537120"/>
            <a:ext cx="3483000" cy="364680"/>
          </a:xfrm>
          <a:prstGeom prst="rect">
            <a:avLst/>
          </a:prstGeom>
          <a:noFill/>
          <a:ln w="0">
            <a:noFill/>
          </a:ln>
        </p:spPr>
        <p:style>
          <a:lnRef idx="0"/>
          <a:fillRef idx="0"/>
          <a:effectRef idx="0"/>
          <a:fontRef idx="minor"/>
        </p:style>
        <p:txBody>
          <a:bodyPr wrap="none" lIns="90000" tIns="45000" rIns="90000" bIns="45000" anchor="t">
            <a:spAutoFit/>
          </a:bodyPr>
          <a:p>
            <a:pPr>
              <a:lnSpc>
                <a:spcPct val="100000"/>
              </a:lnSpc>
            </a:pPr>
            <a:r>
              <a:rPr lang="pl-PL" sz="1800" b="0" u="none" strike="noStrike">
                <a:solidFill>
                  <a:srgbClr val="FFFFFF"/>
                </a:solidFill>
                <a:effectLst/>
                <a:uFillTx/>
                <a:latin typeface="Arial"/>
                <a:ea typeface="DejaVu Sans"/>
              </a:rPr>
              <a:t>WHY ELEMENT-BY-ELEMENT?</a:t>
            </a:r>
            <a:endParaRPr lang="pl-PL" sz="1800" b="0" u="none" strike="noStrike">
              <a:solidFill>
                <a:srgbClr val="FFFFFF"/>
              </a:solidFill>
              <a:effectLst/>
              <a:uFillTx/>
              <a:latin typeface="Arial"/>
            </a:endParaRPr>
          </a:p>
        </p:txBody>
      </p:sp>
      <p:sp>
        <p:nvSpPr>
          <p:cNvPr id="46" name=""/>
          <p:cNvSpPr/>
          <p:nvPr/>
        </p:nvSpPr>
        <p:spPr>
          <a:xfrm>
            <a:off x="5357160" y="3509640"/>
            <a:ext cx="180000" cy="426600"/>
          </a:xfrm>
          <a:prstGeom prst="rect">
            <a:avLst/>
          </a:prstGeom>
          <a:noFill/>
          <a:ln w="0">
            <a:noFill/>
          </a:ln>
        </p:spPr>
        <p:style>
          <a:lnRef idx="0"/>
          <a:fillRef idx="0"/>
          <a:effectRef idx="0"/>
          <a:fontRef idx="minor"/>
        </p:style>
        <p:txBody>
          <a:bodyPr wrap="none" lIns="90000" tIns="45000" rIns="90000" bIns="45000" anchor="t">
            <a:spAutoFit/>
          </a:bodyPr>
          <a:p>
            <a:pPr/>
            <a:endParaRPr lang="pl-PL" sz="1800" b="0" u="none" strike="noStrike">
              <a:solidFill>
                <a:srgbClr val="FFFFFF"/>
              </a:solidFill>
              <a:effectLst/>
              <a:uFillTx/>
              <a:latin typeface="Arial"/>
            </a:endParaRPr>
          </a:p>
        </p:txBody>
      </p:sp>
      <p:sp>
        <p:nvSpPr>
          <p:cNvPr id="47" name=""/>
          <p:cNvSpPr/>
          <p:nvPr/>
        </p:nvSpPr>
        <p:spPr>
          <a:xfrm>
            <a:off x="5114520" y="4460760"/>
            <a:ext cx="4546800" cy="243000"/>
          </a:xfrm>
          <a:prstGeom prst="rect">
            <a:avLst/>
          </a:prstGeom>
          <a:noFill/>
          <a:ln w="0">
            <a:noFill/>
          </a:ln>
        </p:spPr>
        <p:style>
          <a:lnRef idx="0"/>
          <a:fillRef idx="0"/>
          <a:effectRef idx="0"/>
          <a:fontRef idx="minor"/>
        </p:style>
        <p:txBody>
          <a:bodyPr wrap="none" lIns="90000" tIns="45000" rIns="90000" bIns="45000" anchor="t">
            <a:spAutoFit/>
          </a:bodyPr>
          <a:p>
            <a:pPr>
              <a:lnSpc>
                <a:spcPct val="100000"/>
              </a:lnSpc>
            </a:pPr>
            <a:r>
              <a:rPr lang="pl-PL" sz="1000" b="0" u="none" strike="noStrike">
                <a:solidFill>
                  <a:srgbClr val="000000"/>
                </a:solidFill>
                <a:effectLst/>
                <a:uFillTx/>
                <a:latin typeface="Arial"/>
                <a:ea typeface="DejaVu Sans"/>
              </a:rPr>
              <a:t>Parallel nodal accumulation is handled by atomic updates or element coloring</a:t>
            </a:r>
            <a:r>
              <a:rPr lang="pl-PL" sz="1000" b="0" u="none" strike="noStrike">
                <a:solidFill>
                  <a:srgbClr val="FFFFFF"/>
                </a:solidFill>
                <a:effectLst/>
                <a:uFillTx/>
                <a:latin typeface="Arial"/>
                <a:ea typeface="DejaVu Sans"/>
              </a:rPr>
              <a:t> </a:t>
            </a:r>
            <a:endParaRPr lang="pl-PL" sz="1000" b="0" u="none" strike="noStrike">
              <a:solidFill>
                <a:srgbClr val="FFFFFF"/>
              </a:solidFill>
              <a:effectLst/>
              <a:uFillTx/>
              <a:latin typeface="Arial"/>
            </a:endParaRPr>
          </a:p>
        </p:txBody>
      </p:sp>
      <p:sp>
        <p:nvSpPr>
          <p:cNvPr id="48" name=""/>
          <p:cNvSpPr/>
          <p:nvPr/>
        </p:nvSpPr>
        <p:spPr>
          <a:xfrm>
            <a:off x="5122440" y="3378600"/>
            <a:ext cx="4398840" cy="273240"/>
          </a:xfrm>
          <a:prstGeom prst="rect">
            <a:avLst/>
          </a:prstGeom>
          <a:noFill/>
          <a:ln w="0">
            <a:noFill/>
          </a:ln>
        </p:spPr>
        <p:style>
          <a:lnRef idx="0"/>
          <a:fillRef idx="0"/>
          <a:effectRef idx="0"/>
          <a:fontRef idx="minor"/>
        </p:style>
        <p:txBody>
          <a:bodyPr wrap="none" lIns="90000" tIns="45000" rIns="90000" bIns="45000" anchor="t">
            <a:spAutoFit/>
          </a:bodyPr>
          <a:p>
            <a:pPr>
              <a:lnSpc>
                <a:spcPct val="100000"/>
              </a:lnSpc>
            </a:pPr>
            <a:r>
              <a:rPr lang="pl-PL" sz="1200" b="1" u="none" strike="noStrike">
                <a:solidFill>
                  <a:srgbClr val="000000"/>
                </a:solidFill>
                <a:effectLst/>
                <a:uFillTx/>
                <a:latin typeface="Arial"/>
                <a:ea typeface="DejaVu Sans"/>
              </a:rPr>
              <a:t>EbE also reduces the work in the dominant DBCG kernels</a:t>
            </a:r>
            <a:r>
              <a:rPr lang="pl-PL" sz="1000" b="1" u="none" strike="noStrike">
                <a:solidFill>
                  <a:srgbClr val="000000"/>
                </a:solidFill>
                <a:effectLst/>
                <a:uFillTx/>
                <a:latin typeface="Arial"/>
                <a:ea typeface="DejaVu Sans"/>
              </a:rPr>
              <a:t> </a:t>
            </a:r>
            <a:endParaRPr lang="pl-PL" sz="1000" b="0" u="none" strike="noStrike">
              <a:solidFill>
                <a:srgbClr val="FFFFFF"/>
              </a:solidFill>
              <a:effectLst/>
              <a:uFillTx/>
              <a:latin typeface="Arial"/>
            </a:endParaRPr>
          </a:p>
        </p:txBody>
      </p:sp>
      <p:sp>
        <p:nvSpPr>
          <p:cNvPr id="49" name=""/>
          <p:cNvSpPr/>
          <p:nvPr/>
        </p:nvSpPr>
        <p:spPr>
          <a:xfrm>
            <a:off x="5308920" y="3634920"/>
            <a:ext cx="1620360" cy="243000"/>
          </a:xfrm>
          <a:prstGeom prst="rect">
            <a:avLst/>
          </a:prstGeom>
          <a:noFill/>
          <a:ln w="0">
            <a:noFill/>
          </a:ln>
        </p:spPr>
        <p:style>
          <a:lnRef idx="0"/>
          <a:fillRef idx="0"/>
          <a:effectRef idx="0"/>
          <a:fontRef idx="minor"/>
        </p:style>
        <p:txBody>
          <a:bodyPr wrap="none" lIns="90000" tIns="45000" rIns="90000" bIns="45000" anchor="t">
            <a:spAutoFit/>
          </a:bodyPr>
          <a:p>
            <a:pPr>
              <a:lnSpc>
                <a:spcPct val="100000"/>
              </a:lnSpc>
            </a:pPr>
            <a:r>
              <a:rPr lang="pl-PL" sz="1000" b="0" u="none" strike="noStrike">
                <a:solidFill>
                  <a:srgbClr val="000000"/>
                </a:solidFill>
                <a:effectLst/>
                <a:uFillTx/>
                <a:latin typeface="Arial"/>
                <a:ea typeface="DejaVu Sans"/>
              </a:rPr>
              <a:t>Banded matrix: N</a:t>
            </a:r>
            <a:r>
              <a:rPr lang="pl-PL" sz="1000" b="0" u="none" strike="noStrike" baseline="-8000">
                <a:solidFill>
                  <a:srgbClr val="000000"/>
                </a:solidFill>
                <a:effectLst/>
                <a:uFillTx/>
                <a:latin typeface="Arial"/>
                <a:ea typeface="DejaVu Sans"/>
              </a:rPr>
              <a:t>nodes</a:t>
            </a:r>
            <a:r>
              <a:rPr lang="pl-PL" sz="1000" b="0" u="none" strike="noStrike">
                <a:solidFill>
                  <a:srgbClr val="000000"/>
                </a:solidFill>
                <a:effectLst/>
                <a:uFillTx/>
                <a:latin typeface="Arial"/>
                <a:ea typeface="DejaVu Sans"/>
              </a:rPr>
              <a:t> × B </a:t>
            </a:r>
            <a:endParaRPr lang="pl-PL" sz="1000" b="0" u="none" strike="noStrike">
              <a:solidFill>
                <a:srgbClr val="FFFFFF"/>
              </a:solidFill>
              <a:effectLst/>
              <a:uFillTx/>
              <a:latin typeface="Arial"/>
            </a:endParaRPr>
          </a:p>
        </p:txBody>
      </p:sp>
      <p:sp>
        <p:nvSpPr>
          <p:cNvPr id="50" name=""/>
          <p:cNvSpPr/>
          <p:nvPr/>
        </p:nvSpPr>
        <p:spPr>
          <a:xfrm>
            <a:off x="5308920" y="3860640"/>
            <a:ext cx="1850040" cy="24300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pl-PL" sz="1000" b="0" u="none" strike="noStrike">
                <a:solidFill>
                  <a:srgbClr val="000000"/>
                </a:solidFill>
                <a:effectLst/>
                <a:uFillTx/>
                <a:latin typeface="Arial"/>
                <a:ea typeface="DejaVu Sans"/>
              </a:rPr>
              <a:t>HEX8 EbE: 64 × N</a:t>
            </a:r>
            <a:r>
              <a:rPr lang="pl-PL" sz="1000" b="0" u="none" strike="noStrike" baseline="-8000">
                <a:solidFill>
                  <a:srgbClr val="000000"/>
                </a:solidFill>
                <a:effectLst/>
                <a:uFillTx/>
                <a:latin typeface="Arial"/>
                <a:ea typeface="DejaVu Sans"/>
              </a:rPr>
              <a:t>elements</a:t>
            </a:r>
            <a:r>
              <a:rPr lang="pl-PL" sz="1000" b="0" u="none" strike="noStrike">
                <a:solidFill>
                  <a:srgbClr val="000000"/>
                </a:solidFill>
                <a:effectLst/>
                <a:uFillTx/>
                <a:latin typeface="Arial"/>
                <a:ea typeface="DejaVu Sans"/>
              </a:rPr>
              <a:t> </a:t>
            </a:r>
            <a:endParaRPr lang="pl-PL" sz="1000" b="0" u="none" strike="noStrike">
              <a:solidFill>
                <a:srgbClr val="FFFFFF"/>
              </a:solidFill>
              <a:effectLst/>
              <a:uFillTx/>
              <a:latin typeface="Arial"/>
            </a:endParaRPr>
          </a:p>
        </p:txBody>
      </p:sp>
      <p:sp>
        <p:nvSpPr>
          <p:cNvPr id="51" name=""/>
          <p:cNvSpPr/>
          <p:nvPr/>
        </p:nvSpPr>
        <p:spPr>
          <a:xfrm>
            <a:off x="5122440" y="4123800"/>
            <a:ext cx="4142160" cy="243000"/>
          </a:xfrm>
          <a:prstGeom prst="rect">
            <a:avLst/>
          </a:prstGeom>
          <a:noFill/>
          <a:ln w="0">
            <a:noFill/>
          </a:ln>
        </p:spPr>
        <p:style>
          <a:lnRef idx="0"/>
          <a:fillRef idx="0"/>
          <a:effectRef idx="0"/>
          <a:fontRef idx="minor"/>
        </p:style>
        <p:txBody>
          <a:bodyPr wrap="none" lIns="90000" tIns="45000" rIns="90000" bIns="45000" anchor="t">
            <a:spAutoFit/>
          </a:bodyPr>
          <a:p>
            <a:pPr>
              <a:lnSpc>
                <a:spcPct val="100000"/>
              </a:lnSpc>
            </a:pPr>
            <a:r>
              <a:rPr lang="pl-PL" sz="1000" b="0" u="none" strike="noStrike">
                <a:solidFill>
                  <a:srgbClr val="000000"/>
                </a:solidFill>
                <a:effectLst/>
                <a:uFillTx/>
                <a:latin typeface="Arial"/>
                <a:ea typeface="DejaVu Sans"/>
              </a:rPr>
              <a:t>→ substantially fewer matrix entries processed in MATVEC / MTTVEC </a:t>
            </a:r>
            <a:endParaRPr lang="pl-PL" sz="1000" b="0" u="none" strike="noStrike">
              <a:solidFill>
                <a:srgbClr val="FFFFFF"/>
              </a:solidFill>
              <a:effectLst/>
              <a:uFillTx/>
              <a:latin typeface="Arial"/>
            </a:endParaRPr>
          </a:p>
        </p:txBody>
      </p:sp>
      <p:sp>
        <p:nvSpPr>
          <p:cNvPr id="52" name=""/>
          <p:cNvSpPr/>
          <p:nvPr/>
        </p:nvSpPr>
        <p:spPr>
          <a:xfrm>
            <a:off x="545040" y="3409200"/>
            <a:ext cx="3135240" cy="1569240"/>
          </a:xfrm>
          <a:prstGeom prst="rect">
            <a:avLst/>
          </a:prstGeom>
          <a:noFill/>
          <a:ln w="0">
            <a:noFill/>
          </a:ln>
        </p:spPr>
        <p:style>
          <a:lnRef idx="0"/>
          <a:fillRef idx="0"/>
          <a:effectRef idx="0"/>
          <a:fontRef idx="minor"/>
        </p:style>
        <p:txBody>
          <a:bodyPr lIns="90000" tIns="45000" rIns="90000" bIns="45000" anchor="t">
            <a:spAutoFit/>
          </a:bodyPr>
          <a:p>
            <a:pPr>
              <a:lnSpc>
                <a:spcPct val="100000"/>
              </a:lnSpc>
              <a:spcBef>
                <a:spcPts val="624"/>
              </a:spcBef>
              <a:spcAft>
                <a:spcPts val="425"/>
              </a:spcAft>
            </a:pPr>
            <a:r>
              <a:rPr lang="pl-PL" sz="1200" b="1" u="none" strike="noStrike">
                <a:solidFill>
                  <a:srgbClr val="000000"/>
                </a:solidFill>
                <a:effectLst/>
                <a:uFillTx/>
                <a:latin typeface="Arial"/>
                <a:ea typeface="Microsoft YaHei"/>
              </a:rPr>
              <a:t>Why this matters for GPU execution</a:t>
            </a:r>
            <a:endParaRPr lang="pl-PL" sz="1200" b="0" u="none" strike="noStrike">
              <a:solidFill>
                <a:srgbClr val="FFFFFF"/>
              </a:solidFill>
              <a:effectLst/>
              <a:uFillTx/>
              <a:latin typeface="Arial"/>
            </a:endParaRPr>
          </a:p>
          <a:p>
            <a:pPr>
              <a:lnSpc>
                <a:spcPct val="100000"/>
              </a:lnSpc>
              <a:spcBef>
                <a:spcPts val="624"/>
              </a:spcBef>
              <a:spcAft>
                <a:spcPts val="425"/>
              </a:spcAft>
            </a:pPr>
            <a:r>
              <a:rPr lang="pl-PL" sz="1000" b="0" u="none" strike="noStrike">
                <a:solidFill>
                  <a:srgbClr val="000000"/>
                </a:solidFill>
                <a:effectLst/>
                <a:uFillTx/>
                <a:latin typeface="Arial"/>
                <a:ea typeface="Microsoft YaHei"/>
              </a:rPr>
              <a:t>• Multi-million-node problems can fit on a single GPU</a:t>
            </a:r>
            <a:endParaRPr lang="pl-PL" sz="1000" b="0" u="none" strike="noStrike">
              <a:solidFill>
                <a:srgbClr val="FFFFFF"/>
              </a:solidFill>
              <a:effectLst/>
              <a:uFillTx/>
              <a:latin typeface="Arial"/>
            </a:endParaRPr>
          </a:p>
          <a:p>
            <a:pPr>
              <a:lnSpc>
                <a:spcPct val="100000"/>
              </a:lnSpc>
              <a:spcBef>
                <a:spcPts val="624"/>
              </a:spcBef>
              <a:spcAft>
                <a:spcPts val="425"/>
              </a:spcAft>
            </a:pPr>
            <a:r>
              <a:rPr lang="pl-PL" sz="1000" b="0" u="none" strike="noStrike">
                <a:solidFill>
                  <a:srgbClr val="000000"/>
                </a:solidFill>
                <a:effectLst/>
                <a:uFillTx/>
                <a:latin typeface="Arial"/>
                <a:ea typeface="Microsoft YaHei"/>
              </a:rPr>
              <a:t>• Solver data can remain resident in GPU memory</a:t>
            </a:r>
            <a:endParaRPr lang="pl-PL" sz="1000" b="0" u="none" strike="noStrike">
              <a:solidFill>
                <a:srgbClr val="FFFFFF"/>
              </a:solidFill>
              <a:effectLst/>
              <a:uFillTx/>
              <a:latin typeface="Arial"/>
            </a:endParaRPr>
          </a:p>
          <a:p>
            <a:pPr>
              <a:lnSpc>
                <a:spcPct val="100000"/>
              </a:lnSpc>
              <a:spcBef>
                <a:spcPts val="624"/>
              </a:spcBef>
              <a:spcAft>
                <a:spcPts val="425"/>
              </a:spcAft>
            </a:pPr>
            <a:r>
              <a:rPr lang="pl-PL" sz="1000" b="0" u="none" strike="noStrike">
                <a:solidFill>
                  <a:srgbClr val="000000"/>
                </a:solidFill>
                <a:effectLst/>
                <a:uFillTx/>
                <a:latin typeface="Arial"/>
                <a:ea typeface="Microsoft YaHei"/>
              </a:rPr>
              <a:t>• Reduced CPU↔GPU data transfers</a:t>
            </a:r>
            <a:endParaRPr lang="pl-PL" sz="1000" b="0" u="none" strike="noStrike">
              <a:solidFill>
                <a:srgbClr val="FFFFFF"/>
              </a:solidFill>
              <a:effectLst/>
              <a:uFillTx/>
              <a:latin typeface="Arial"/>
            </a:endParaRPr>
          </a:p>
          <a:p>
            <a:pPr>
              <a:lnSpc>
                <a:spcPct val="100000"/>
              </a:lnSpc>
              <a:spcBef>
                <a:spcPts val="624"/>
              </a:spcBef>
              <a:spcAft>
                <a:spcPts val="425"/>
              </a:spcAft>
            </a:pPr>
            <a:r>
              <a:rPr lang="pl-PL" sz="1000" b="0" u="none" strike="noStrike">
                <a:solidFill>
                  <a:srgbClr val="000000"/>
                </a:solidFill>
                <a:effectLst/>
                <a:uFillTx/>
                <a:latin typeface="Arial"/>
                <a:ea typeface="Microsoft YaHei"/>
              </a:rPr>
              <a:t>• Single-GPU execution avoids inter-GPU communication </a:t>
            </a:r>
            <a:endParaRPr lang="pl-PL" sz="10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pic>
        <p:nvPicPr>
          <p:cNvPr id="53" name=""/>
          <p:cNvPicPr/>
          <p:nvPr/>
        </p:nvPicPr>
        <p:blipFill>
          <a:blip r:embed="rId2"/>
          <a:stretch/>
        </p:blipFill>
        <p:spPr>
          <a:xfrm>
            <a:off x="303840" y="2320560"/>
            <a:ext cx="3654720" cy="2777040"/>
          </a:xfrm>
          <a:prstGeom prst="rect">
            <a:avLst/>
          </a:prstGeom>
          <a:noFill/>
          <a:ln w="0">
            <a:noFill/>
          </a:ln>
        </p:spPr>
      </p:pic>
      <p:sp>
        <p:nvSpPr>
          <p:cNvPr id="54" name=""/>
          <p:cNvSpPr/>
          <p:nvPr/>
        </p:nvSpPr>
        <p:spPr>
          <a:xfrm>
            <a:off x="265680" y="1802880"/>
            <a:ext cx="3608640" cy="39564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pl-PL" sz="1000" b="0" u="none" strike="noStrike">
                <a:solidFill>
                  <a:srgbClr val="FFFFFF"/>
                </a:solidFill>
                <a:effectLst/>
                <a:uFillTx/>
                <a:latin typeface="Arial"/>
                <a:ea typeface="DejaVu Sans"/>
              </a:rPr>
              <a:t>DR mass-balance test: Q=1 kg/s, P=0, α=0, no imposed Dirichlet concentration constraints.</a:t>
            </a:r>
            <a:endParaRPr lang="pl-PL" sz="1000" b="0" u="none" strike="noStrike">
              <a:solidFill>
                <a:srgbClr val="FFFFFF"/>
              </a:solidFill>
              <a:effectLst/>
              <a:uFillTx/>
              <a:latin typeface="Arial"/>
            </a:endParaRPr>
          </a:p>
        </p:txBody>
      </p:sp>
      <p:sp>
        <p:nvSpPr>
          <p:cNvPr id="55" name=""/>
          <p:cNvSpPr/>
          <p:nvPr/>
        </p:nvSpPr>
        <p:spPr>
          <a:xfrm>
            <a:off x="4131360" y="4591440"/>
            <a:ext cx="5441760" cy="42588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pl-PL" sz="1100" b="0" u="none" strike="noStrike">
                <a:solidFill>
                  <a:srgbClr val="FFFFFF"/>
                </a:solidFill>
                <a:effectLst/>
                <a:uFillTx/>
                <a:latin typeface="Arial"/>
                <a:ea typeface="DejaVu Sans"/>
              </a:rPr>
              <a:t>Up to 600 s, the integrated mass remains within about 3.3% of the cumulative source input; at later times, boundary outflow becomes significant.</a:t>
            </a:r>
            <a:endParaRPr lang="pl-PL" sz="1100" b="0" u="none" strike="noStrike">
              <a:solidFill>
                <a:srgbClr val="FFFFFF"/>
              </a:solidFill>
              <a:effectLst/>
              <a:uFillTx/>
              <a:latin typeface="Arial"/>
            </a:endParaRPr>
          </a:p>
        </p:txBody>
      </p:sp>
      <p:sp>
        <p:nvSpPr>
          <p:cNvPr id="56" name=""/>
          <p:cNvSpPr/>
          <p:nvPr/>
        </p:nvSpPr>
        <p:spPr>
          <a:xfrm>
            <a:off x="2814840" y="690120"/>
            <a:ext cx="3618000" cy="364680"/>
          </a:xfrm>
          <a:prstGeom prst="rect">
            <a:avLst/>
          </a:prstGeom>
          <a:noFill/>
          <a:ln w="0">
            <a:noFill/>
          </a:ln>
        </p:spPr>
        <p:style>
          <a:lnRef idx="0"/>
          <a:fillRef idx="0"/>
          <a:effectRef idx="0"/>
          <a:fontRef idx="minor"/>
        </p:style>
        <p:txBody>
          <a:bodyPr wrap="none" lIns="90000" tIns="45000" rIns="90000" bIns="45000" anchor="t">
            <a:spAutoFit/>
          </a:bodyPr>
          <a:p>
            <a:pPr>
              <a:lnSpc>
                <a:spcPct val="100000"/>
              </a:lnSpc>
            </a:pPr>
            <a:r>
              <a:rPr lang="pl-PL" sz="1800" b="0" u="none" strike="noStrike">
                <a:solidFill>
                  <a:srgbClr val="FFFFFF"/>
                </a:solidFill>
                <a:effectLst/>
                <a:uFillTx/>
                <a:latin typeface="Arial"/>
                <a:ea typeface="DejaVu Sans"/>
              </a:rPr>
              <a:t>MASS-BALANCE VERIFICATION</a:t>
            </a:r>
            <a:endParaRPr lang="pl-PL" sz="1800" b="0" u="none" strike="noStrike">
              <a:solidFill>
                <a:srgbClr val="FFFFFF"/>
              </a:solidFill>
              <a:effectLst/>
              <a:uFillTx/>
              <a:latin typeface="Arial"/>
            </a:endParaRPr>
          </a:p>
        </p:txBody>
      </p:sp>
      <p:pic>
        <p:nvPicPr>
          <p:cNvPr id="57" name=""/>
          <p:cNvPicPr/>
          <p:nvPr/>
        </p:nvPicPr>
        <p:blipFill>
          <a:blip r:embed="rId3"/>
          <a:stretch/>
        </p:blipFill>
        <p:spPr>
          <a:xfrm>
            <a:off x="4414320" y="2295000"/>
            <a:ext cx="4817520" cy="2713320"/>
          </a:xfrm>
          <a:prstGeom prst="rect">
            <a:avLst/>
          </a:prstGeom>
          <a:noFill/>
          <a:ln w="0">
            <a:noFill/>
          </a:ln>
        </p:spPr>
      </p:pic>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pic>
        <p:nvPicPr>
          <p:cNvPr id="58" name=""/>
          <p:cNvPicPr/>
          <p:nvPr/>
        </p:nvPicPr>
        <p:blipFill>
          <a:blip r:embed="rId2"/>
          <a:stretch/>
        </p:blipFill>
        <p:spPr>
          <a:xfrm>
            <a:off x="560520" y="1058400"/>
            <a:ext cx="3662280" cy="4152240"/>
          </a:xfrm>
          <a:prstGeom prst="rect">
            <a:avLst/>
          </a:prstGeom>
          <a:noFill/>
          <a:ln w="0">
            <a:noFill/>
          </a:ln>
        </p:spPr>
      </p:pic>
      <p:pic>
        <p:nvPicPr>
          <p:cNvPr id="59" name=""/>
          <p:cNvPicPr/>
          <p:nvPr/>
        </p:nvPicPr>
        <p:blipFill>
          <a:blip r:embed="rId3"/>
          <a:stretch/>
        </p:blipFill>
        <p:spPr>
          <a:xfrm>
            <a:off x="5455440" y="1063080"/>
            <a:ext cx="3588840" cy="4188600"/>
          </a:xfrm>
          <a:prstGeom prst="rect">
            <a:avLst/>
          </a:prstGeom>
          <a:noFill/>
          <a:ln w="0">
            <a:noFill/>
          </a:ln>
        </p:spPr>
      </p:pic>
      <p:sp>
        <p:nvSpPr>
          <p:cNvPr id="60" name=""/>
          <p:cNvSpPr/>
          <p:nvPr/>
        </p:nvSpPr>
        <p:spPr>
          <a:xfrm>
            <a:off x="2009160" y="361080"/>
            <a:ext cx="5320440" cy="364680"/>
          </a:xfrm>
          <a:prstGeom prst="rect">
            <a:avLst/>
          </a:prstGeom>
          <a:noFill/>
          <a:ln w="0">
            <a:noFill/>
          </a:ln>
        </p:spPr>
        <p:style>
          <a:lnRef idx="0"/>
          <a:fillRef idx="0"/>
          <a:effectRef idx="0"/>
          <a:fontRef idx="minor"/>
        </p:style>
        <p:txBody>
          <a:bodyPr wrap="none" lIns="90000" tIns="45000" rIns="90000" bIns="45000" anchor="t">
            <a:spAutoFit/>
          </a:bodyPr>
          <a:p>
            <a:pPr>
              <a:lnSpc>
                <a:spcPct val="100000"/>
              </a:lnSpc>
            </a:pPr>
            <a:r>
              <a:rPr lang="pl-PL" sz="1800" b="0" u="none" strike="noStrike">
                <a:solidFill>
                  <a:srgbClr val="FFFFFF"/>
                </a:solidFill>
                <a:effectLst/>
                <a:uFillTx/>
                <a:latin typeface="Arial"/>
                <a:ea typeface="DejaVu Sans"/>
              </a:rPr>
              <a:t>VANADIS 3D vs PASQUILL DISPERSION MODEL</a:t>
            </a:r>
            <a:endParaRPr lang="pl-PL" sz="1800" b="0" u="none" strike="noStrike">
              <a:solidFill>
                <a:srgbClr val="FFFFFF"/>
              </a:solidFill>
              <a:effectLst/>
              <a:uFillTx/>
              <a:latin typeface="Arial"/>
            </a:endParaRPr>
          </a:p>
        </p:txBody>
      </p:sp>
      <p:sp>
        <p:nvSpPr>
          <p:cNvPr id="61" name=""/>
          <p:cNvSpPr/>
          <p:nvPr/>
        </p:nvSpPr>
        <p:spPr>
          <a:xfrm>
            <a:off x="3095640" y="725040"/>
            <a:ext cx="3006720" cy="243000"/>
          </a:xfrm>
          <a:prstGeom prst="rect">
            <a:avLst/>
          </a:prstGeom>
          <a:noFill/>
          <a:ln w="0">
            <a:noFill/>
          </a:ln>
        </p:spPr>
        <p:style>
          <a:lnRef idx="0"/>
          <a:fillRef idx="0"/>
          <a:effectRef idx="0"/>
          <a:fontRef idx="minor"/>
        </p:style>
        <p:txBody>
          <a:bodyPr wrap="none" lIns="90000" tIns="45000" rIns="90000" bIns="45000" anchor="t">
            <a:spAutoFit/>
          </a:bodyPr>
          <a:p>
            <a:pPr>
              <a:lnSpc>
                <a:spcPct val="100000"/>
              </a:lnSpc>
            </a:pPr>
            <a:r>
              <a:rPr lang="pl-PL" sz="1000" b="0" u="none" strike="noStrike">
                <a:solidFill>
                  <a:srgbClr val="FFFFFF"/>
                </a:solidFill>
                <a:effectLst/>
                <a:uFillTx/>
                <a:latin typeface="Arial"/>
                <a:ea typeface="DejaVu Sans"/>
              </a:rPr>
              <a:t>Horizontal ground-level and vertical cross-sections</a:t>
            </a:r>
            <a:endParaRPr lang="pl-PL" sz="1000" b="0" u="none" strike="noStrike">
              <a:solidFill>
                <a:srgbClr val="FFFFFF"/>
              </a:solidFill>
              <a:effectLst/>
              <a:uFillTx/>
              <a:latin typeface="Arial"/>
            </a:endParaRPr>
          </a:p>
        </p:txBody>
      </p:sp>
      <p:sp>
        <p:nvSpPr>
          <p:cNvPr id="62" name=""/>
          <p:cNvSpPr/>
          <p:nvPr/>
        </p:nvSpPr>
        <p:spPr>
          <a:xfrm>
            <a:off x="1111320" y="5331600"/>
            <a:ext cx="7618320" cy="273240"/>
          </a:xfrm>
          <a:prstGeom prst="rect">
            <a:avLst/>
          </a:prstGeom>
          <a:noFill/>
          <a:ln w="0">
            <a:noFill/>
          </a:ln>
        </p:spPr>
        <p:style>
          <a:lnRef idx="0"/>
          <a:fillRef idx="0"/>
          <a:effectRef idx="0"/>
          <a:fontRef idx="minor"/>
        </p:style>
        <p:txBody>
          <a:bodyPr wrap="none" lIns="90000" tIns="45000" rIns="90000" bIns="45000" anchor="t">
            <a:spAutoFit/>
          </a:bodyPr>
          <a:p>
            <a:pPr>
              <a:lnSpc>
                <a:spcPct val="100000"/>
              </a:lnSpc>
            </a:pPr>
            <a:r>
              <a:rPr lang="pl-PL" sz="1200" b="0" u="none" strike="noStrike">
                <a:solidFill>
                  <a:srgbClr val="FFFFFF"/>
                </a:solidFill>
                <a:effectLst/>
                <a:uFillTx/>
                <a:latin typeface="Arial"/>
                <a:ea typeface="DejaVu Sans"/>
              </a:rPr>
              <a:t>Similar plume location, lateral and vertical spread, and concentration scale are obtained with both approaches.</a:t>
            </a:r>
            <a:endParaRPr lang="pl-PL" sz="12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pic>
        <p:nvPicPr>
          <p:cNvPr id="63" name=""/>
          <p:cNvPicPr/>
          <p:nvPr/>
        </p:nvPicPr>
        <p:blipFill>
          <a:blip r:embed="rId2"/>
          <a:stretch/>
        </p:blipFill>
        <p:spPr>
          <a:xfrm>
            <a:off x="401400" y="1757160"/>
            <a:ext cx="4141080" cy="1271520"/>
          </a:xfrm>
          <a:prstGeom prst="rect">
            <a:avLst/>
          </a:prstGeom>
          <a:noFill/>
          <a:ln w="0">
            <a:noFill/>
          </a:ln>
        </p:spPr>
      </p:pic>
      <p:pic>
        <p:nvPicPr>
          <p:cNvPr id="64" name=""/>
          <p:cNvPicPr/>
          <p:nvPr/>
        </p:nvPicPr>
        <p:blipFill>
          <a:blip r:embed="rId3"/>
          <a:stretch/>
        </p:blipFill>
        <p:spPr>
          <a:xfrm>
            <a:off x="5365440" y="1742760"/>
            <a:ext cx="4005360" cy="1296720"/>
          </a:xfrm>
          <a:prstGeom prst="rect">
            <a:avLst/>
          </a:prstGeom>
          <a:noFill/>
          <a:ln w="0">
            <a:noFill/>
          </a:ln>
        </p:spPr>
      </p:pic>
      <p:sp>
        <p:nvSpPr>
          <p:cNvPr id="65" name=""/>
          <p:cNvSpPr/>
          <p:nvPr/>
        </p:nvSpPr>
        <p:spPr>
          <a:xfrm>
            <a:off x="326520" y="1184400"/>
            <a:ext cx="3435480" cy="364680"/>
          </a:xfrm>
          <a:prstGeom prst="rect">
            <a:avLst/>
          </a:prstGeom>
          <a:noFill/>
          <a:ln w="0">
            <a:noFill/>
          </a:ln>
        </p:spPr>
        <p:style>
          <a:lnRef idx="0"/>
          <a:fillRef idx="0"/>
          <a:effectRef idx="0"/>
          <a:fontRef idx="minor"/>
        </p:style>
        <p:txBody>
          <a:bodyPr wrap="none" lIns="90000" tIns="45000" rIns="90000" bIns="45000" anchor="t">
            <a:spAutoFit/>
          </a:bodyPr>
          <a:p>
            <a:pPr>
              <a:lnSpc>
                <a:spcPct val="100000"/>
              </a:lnSpc>
            </a:pPr>
            <a:r>
              <a:rPr lang="pl-PL" sz="1800" b="0" u="none" strike="noStrike">
                <a:solidFill>
                  <a:srgbClr val="FFFFFF"/>
                </a:solidFill>
                <a:effectLst/>
                <a:uFillTx/>
                <a:latin typeface="Arial"/>
                <a:ea typeface="DejaVu Sans"/>
              </a:rPr>
              <a:t>Ground‑level temporal evolution</a:t>
            </a:r>
            <a:endParaRPr lang="pl-PL" sz="1800" b="0" u="none" strike="noStrike">
              <a:solidFill>
                <a:srgbClr val="FFFFFF"/>
              </a:solidFill>
              <a:effectLst/>
              <a:uFillTx/>
              <a:latin typeface="Arial"/>
            </a:endParaRPr>
          </a:p>
        </p:txBody>
      </p:sp>
      <p:sp>
        <p:nvSpPr>
          <p:cNvPr id="66" name=""/>
          <p:cNvSpPr/>
          <p:nvPr/>
        </p:nvSpPr>
        <p:spPr>
          <a:xfrm>
            <a:off x="5268240" y="1203480"/>
            <a:ext cx="3511800" cy="364680"/>
          </a:xfrm>
          <a:prstGeom prst="rect">
            <a:avLst/>
          </a:prstGeom>
          <a:noFill/>
          <a:ln w="0">
            <a:noFill/>
          </a:ln>
        </p:spPr>
        <p:style>
          <a:lnRef idx="0"/>
          <a:fillRef idx="0"/>
          <a:effectRef idx="0"/>
          <a:fontRef idx="minor"/>
        </p:style>
        <p:txBody>
          <a:bodyPr wrap="none" lIns="90000" tIns="45000" rIns="90000" bIns="45000" anchor="t">
            <a:spAutoFit/>
          </a:bodyPr>
          <a:p>
            <a:pPr>
              <a:lnSpc>
                <a:spcPct val="100000"/>
              </a:lnSpc>
            </a:pPr>
            <a:r>
              <a:rPr lang="pl-PL" sz="1800" b="0" u="none" strike="noStrike">
                <a:solidFill>
                  <a:srgbClr val="FFFFFF"/>
                </a:solidFill>
                <a:effectLst/>
                <a:uFillTx/>
                <a:latin typeface="Arial"/>
                <a:ea typeface="DejaVu Sans"/>
              </a:rPr>
              <a:t>Vertical‑plane temporal evolution</a:t>
            </a:r>
            <a:endParaRPr lang="pl-PL" sz="1800" b="0" u="none" strike="noStrike">
              <a:solidFill>
                <a:srgbClr val="FFFFFF"/>
              </a:solidFill>
              <a:effectLst/>
              <a:uFillTx/>
              <a:latin typeface="Arial"/>
            </a:endParaRPr>
          </a:p>
        </p:txBody>
      </p:sp>
      <p:pic>
        <p:nvPicPr>
          <p:cNvPr id="67" name=""/>
          <p:cNvPicPr/>
          <p:nvPr/>
        </p:nvPicPr>
        <p:blipFill>
          <a:blip r:embed="rId4"/>
          <a:stretch/>
        </p:blipFill>
        <p:spPr>
          <a:xfrm>
            <a:off x="361800" y="3285720"/>
            <a:ext cx="5658120" cy="1663920"/>
          </a:xfrm>
          <a:prstGeom prst="rect">
            <a:avLst/>
          </a:prstGeom>
          <a:noFill/>
          <a:ln w="0">
            <a:noFill/>
          </a:ln>
        </p:spPr>
      </p:pic>
      <p:sp>
        <p:nvSpPr>
          <p:cNvPr id="68" name=""/>
          <p:cNvSpPr/>
          <p:nvPr/>
        </p:nvSpPr>
        <p:spPr>
          <a:xfrm>
            <a:off x="1239480" y="439560"/>
            <a:ext cx="7386120" cy="364680"/>
          </a:xfrm>
          <a:prstGeom prst="rect">
            <a:avLst/>
          </a:prstGeom>
          <a:noFill/>
          <a:ln w="0">
            <a:noFill/>
          </a:ln>
        </p:spPr>
        <p:style>
          <a:lnRef idx="0"/>
          <a:fillRef idx="0"/>
          <a:effectRef idx="0"/>
          <a:fontRef idx="minor"/>
        </p:style>
        <p:txBody>
          <a:bodyPr wrap="none" lIns="90000" tIns="45000" rIns="90000" bIns="45000" anchor="t">
            <a:spAutoFit/>
          </a:bodyPr>
          <a:p>
            <a:pPr>
              <a:lnSpc>
                <a:spcPct val="100000"/>
              </a:lnSpc>
              <a:spcBef>
                <a:spcPts val="1191"/>
              </a:spcBef>
              <a:spcAft>
                <a:spcPts val="992"/>
              </a:spcAft>
            </a:pPr>
            <a:r>
              <a:rPr lang="pl-PL" sz="1800" b="0" u="none" strike="noStrike">
                <a:solidFill>
                  <a:srgbClr val="FFFFFF"/>
                </a:solidFill>
                <a:effectLst/>
                <a:uFillTx/>
                <a:latin typeface="Arial"/>
                <a:ea typeface="DejaVu Sans"/>
              </a:rPr>
              <a:t>TEMPORAL EVOLUTION AND LARGE-MESH GPU PERFORMANCE </a:t>
            </a:r>
            <a:endParaRPr lang="pl-PL" sz="1800" b="0" u="none" strike="noStrike">
              <a:solidFill>
                <a:srgbClr val="FFFFFF"/>
              </a:solidFill>
              <a:effectLst/>
              <a:uFillTx/>
              <a:latin typeface="Arial"/>
            </a:endParaRPr>
          </a:p>
        </p:txBody>
      </p:sp>
      <p:sp>
        <p:nvSpPr>
          <p:cNvPr id="69" name=""/>
          <p:cNvSpPr/>
          <p:nvPr/>
        </p:nvSpPr>
        <p:spPr>
          <a:xfrm>
            <a:off x="360360" y="5061960"/>
            <a:ext cx="5872680" cy="456120"/>
          </a:xfrm>
          <a:prstGeom prst="rect">
            <a:avLst/>
          </a:prstGeom>
          <a:noFill/>
          <a:ln w="0">
            <a:noFill/>
          </a:ln>
        </p:spPr>
        <p:style>
          <a:lnRef idx="0"/>
          <a:fillRef idx="0"/>
          <a:effectRef idx="0"/>
          <a:fontRef idx="minor"/>
        </p:style>
        <p:txBody>
          <a:bodyPr wrap="none" lIns="90000" tIns="45000" rIns="90000" bIns="45000" anchor="t">
            <a:spAutoFit/>
          </a:bodyPr>
          <a:p>
            <a:pPr>
              <a:lnSpc>
                <a:spcPct val="100000"/>
              </a:lnSpc>
            </a:pPr>
            <a:r>
              <a:rPr lang="pl-PL" sz="1200" b="0" u="none" strike="noStrike">
                <a:solidFill>
                  <a:srgbClr val="FFFFFF"/>
                </a:solidFill>
                <a:effectLst/>
                <a:uFillTx/>
                <a:latin typeface="Arial"/>
                <a:ea typeface="DejaVu Sans"/>
              </a:rPr>
              <a:t>2.8 million nodes: GPU solve time decreases from 8.9 to 6.6 s per step,</a:t>
            </a:r>
            <a:endParaRPr lang="pl-PL" sz="1200" b="0" u="none" strike="noStrike">
              <a:solidFill>
                <a:srgbClr val="FFFFFF"/>
              </a:solidFill>
              <a:effectLst/>
              <a:uFillTx/>
              <a:latin typeface="Arial"/>
            </a:endParaRPr>
          </a:p>
          <a:p>
            <a:pPr>
              <a:lnSpc>
                <a:spcPct val="100000"/>
              </a:lnSpc>
            </a:pPr>
            <a:r>
              <a:rPr lang="pl-PL" sz="1200" b="0" u="none" strike="noStrike">
                <a:solidFill>
                  <a:srgbClr val="FFFFFF"/>
                </a:solidFill>
                <a:effectLst/>
                <a:uFillTx/>
                <a:latin typeface="Arial"/>
                <a:ea typeface="DejaVu Sans"/>
              </a:rPr>
              <a:t>with the same DBCG iteration history and numerical solution as the CPU calculation.</a:t>
            </a:r>
            <a:endParaRPr lang="pl-PL" sz="1200" b="0" u="none" strike="noStrike">
              <a:solidFill>
                <a:srgbClr val="FFFFFF"/>
              </a:solidFill>
              <a:effectLst/>
              <a:uFillTx/>
              <a:latin typeface="Arial"/>
            </a:endParaRPr>
          </a:p>
        </p:txBody>
      </p:sp>
      <p:sp>
        <p:nvSpPr>
          <p:cNvPr id="70" name=""/>
          <p:cNvSpPr txBox="1"/>
          <p:nvPr/>
        </p:nvSpPr>
        <p:spPr>
          <a:xfrm>
            <a:off x="5275800" y="1525320"/>
            <a:ext cx="1423440" cy="204840"/>
          </a:xfrm>
          <a:prstGeom prst="rect">
            <a:avLst/>
          </a:prstGeom>
          <a:noFill/>
          <a:ln w="0">
            <a:noFill/>
          </a:ln>
        </p:spPr>
        <p:txBody>
          <a:bodyPr wrap="none" lIns="90000" tIns="45000" rIns="90000" bIns="45000" anchor="t">
            <a:spAutoFit/>
          </a:bodyPr>
          <a:p>
            <a:pPr>
              <a:spcBef>
                <a:spcPts val="1191"/>
              </a:spcBef>
              <a:spcAft>
                <a:spcPts val="992"/>
              </a:spcAft>
            </a:pPr>
            <a:r>
              <a:rPr lang="pl-PL" sz="800" b="0" u="none" strike="noStrike">
                <a:solidFill>
                  <a:srgbClr val="FFFFFF"/>
                </a:solidFill>
                <a:effectLst/>
                <a:uFillTx/>
                <a:latin typeface="Arial"/>
              </a:rPr>
              <a:t>Small-mesh demonstration </a:t>
            </a:r>
            <a:endParaRPr lang="pl-PL" sz="800" b="0" u="none" strike="noStrike">
              <a:solidFill>
                <a:srgbClr val="FFFFFF"/>
              </a:solidFill>
              <a:effectLst/>
              <a:uFillTx/>
              <a:latin typeface="Arial"/>
            </a:endParaRPr>
          </a:p>
        </p:txBody>
      </p:sp>
      <p:sp>
        <p:nvSpPr>
          <p:cNvPr id="71" name=""/>
          <p:cNvSpPr txBox="1"/>
          <p:nvPr/>
        </p:nvSpPr>
        <p:spPr>
          <a:xfrm>
            <a:off x="326520" y="1524960"/>
            <a:ext cx="1430280" cy="232200"/>
          </a:xfrm>
          <a:prstGeom prst="rect">
            <a:avLst/>
          </a:prstGeom>
          <a:noFill/>
          <a:ln w="0">
            <a:noFill/>
          </a:ln>
        </p:spPr>
        <p:txBody>
          <a:bodyPr wrap="none" lIns="90000" tIns="45000" rIns="90000" bIns="45000" anchor="t">
            <a:spAutoFit/>
          </a:bodyPr>
          <a:p>
            <a:pPr>
              <a:spcBef>
                <a:spcPts val="1191"/>
              </a:spcBef>
              <a:spcAft>
                <a:spcPts val="992"/>
              </a:spcAft>
            </a:pPr>
            <a:r>
              <a:rPr lang="pl-PL" sz="800" b="0" u="none" strike="noStrike">
                <a:solidFill>
                  <a:srgbClr val="FFFFFF"/>
                </a:solidFill>
                <a:effectLst/>
                <a:uFillTx/>
                <a:latin typeface="Arial"/>
              </a:rPr>
              <a:t>Small-mesh demonstration</a:t>
            </a:r>
            <a:r>
              <a:rPr lang="pl-PL" sz="1000" b="0" u="none" strike="noStrike">
                <a:solidFill>
                  <a:srgbClr val="FFFFFF"/>
                </a:solidFill>
                <a:effectLst/>
                <a:uFillTx/>
                <a:latin typeface="Arial"/>
              </a:rPr>
              <a:t> </a:t>
            </a:r>
            <a:endParaRPr lang="pl-PL" sz="10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72" name=""/>
          <p:cNvSpPr/>
          <p:nvPr/>
        </p:nvSpPr>
        <p:spPr>
          <a:xfrm>
            <a:off x="1239480" y="439560"/>
            <a:ext cx="7335000" cy="364680"/>
          </a:xfrm>
          <a:prstGeom prst="rect">
            <a:avLst/>
          </a:prstGeom>
          <a:noFill/>
          <a:ln w="0">
            <a:noFill/>
          </a:ln>
        </p:spPr>
        <p:style>
          <a:lnRef idx="0"/>
          <a:fillRef idx="0"/>
          <a:effectRef idx="0"/>
          <a:fontRef idx="minor"/>
        </p:style>
        <p:txBody>
          <a:bodyPr wrap="none" lIns="90000" tIns="45000" rIns="90000" bIns="45000" anchor="t">
            <a:spAutoFit/>
          </a:bodyPr>
          <a:p>
            <a:pPr>
              <a:lnSpc>
                <a:spcPct val="100000"/>
              </a:lnSpc>
            </a:pPr>
            <a:r>
              <a:rPr lang="pl-PL" sz="1800" b="0" u="none" strike="noStrike">
                <a:solidFill>
                  <a:srgbClr val="FFFFFF"/>
                </a:solidFill>
                <a:effectLst/>
                <a:uFillTx/>
                <a:latin typeface="Arial"/>
                <a:ea typeface="DejaVu Sans"/>
              </a:rPr>
              <a:t>THE STRENGTH OF VANADIS: INTEGRATED NUMERICS AND HPC</a:t>
            </a:r>
            <a:endParaRPr lang="pl-PL" sz="1800" b="0" u="none" strike="noStrike">
              <a:solidFill>
                <a:srgbClr val="FFFFFF"/>
              </a:solidFill>
              <a:effectLst/>
              <a:uFillTx/>
              <a:latin typeface="Arial"/>
            </a:endParaRPr>
          </a:p>
        </p:txBody>
      </p:sp>
      <p:sp>
        <p:nvSpPr>
          <p:cNvPr id="73" name=""/>
          <p:cNvSpPr/>
          <p:nvPr/>
        </p:nvSpPr>
        <p:spPr>
          <a:xfrm>
            <a:off x="360360" y="5061960"/>
            <a:ext cx="5872680" cy="456120"/>
          </a:xfrm>
          <a:prstGeom prst="rect">
            <a:avLst/>
          </a:prstGeom>
          <a:noFill/>
          <a:ln w="0">
            <a:noFill/>
          </a:ln>
        </p:spPr>
        <p:style>
          <a:lnRef idx="0"/>
          <a:fillRef idx="0"/>
          <a:effectRef idx="0"/>
          <a:fontRef idx="minor"/>
        </p:style>
        <p:txBody>
          <a:bodyPr wrap="none" lIns="90000" tIns="45000" rIns="90000" bIns="45000" anchor="t">
            <a:spAutoFit/>
          </a:bodyPr>
          <a:p>
            <a:pPr>
              <a:lnSpc>
                <a:spcPct val="100000"/>
              </a:lnSpc>
            </a:pPr>
            <a:r>
              <a:rPr lang="pl-PL" sz="1200" b="0" u="none" strike="noStrike">
                <a:solidFill>
                  <a:srgbClr val="FFFFFF"/>
                </a:solidFill>
                <a:effectLst/>
                <a:uFillTx/>
                <a:latin typeface="Arial"/>
                <a:ea typeface="DejaVu Sans"/>
              </a:rPr>
              <a:t>2.8 million nodes: GPU solve time decreases from 8.9 to 6.6 s per step,</a:t>
            </a:r>
            <a:endParaRPr lang="pl-PL" sz="1200" b="0" u="none" strike="noStrike">
              <a:solidFill>
                <a:srgbClr val="FFFFFF"/>
              </a:solidFill>
              <a:effectLst/>
              <a:uFillTx/>
              <a:latin typeface="Arial"/>
            </a:endParaRPr>
          </a:p>
          <a:p>
            <a:pPr>
              <a:lnSpc>
                <a:spcPct val="100000"/>
              </a:lnSpc>
            </a:pPr>
            <a:r>
              <a:rPr lang="pl-PL" sz="1200" b="0" u="none" strike="noStrike">
                <a:solidFill>
                  <a:srgbClr val="FFFFFF"/>
                </a:solidFill>
                <a:effectLst/>
                <a:uFillTx/>
                <a:latin typeface="Arial"/>
                <a:ea typeface="DejaVu Sans"/>
              </a:rPr>
              <a:t>with the same DBCG iteration history and numerical solution as the CPU calculation.</a:t>
            </a:r>
            <a:endParaRPr lang="pl-PL" sz="1200" b="0" u="none" strike="noStrike">
              <a:solidFill>
                <a:srgbClr val="FFFFFF"/>
              </a:solidFill>
              <a:effectLst/>
              <a:uFillTx/>
              <a:latin typeface="Arial"/>
            </a:endParaRPr>
          </a:p>
        </p:txBody>
      </p:sp>
      <p:sp>
        <p:nvSpPr>
          <p:cNvPr id="74" name=""/>
          <p:cNvSpPr/>
          <p:nvPr/>
        </p:nvSpPr>
        <p:spPr>
          <a:xfrm>
            <a:off x="2978280" y="4320000"/>
            <a:ext cx="4206240" cy="776160"/>
          </a:xfrm>
          <a:prstGeom prst="rect">
            <a:avLst/>
          </a:prstGeom>
          <a:noFill/>
          <a:ln w="0">
            <a:noFill/>
          </a:ln>
        </p:spPr>
        <p:style>
          <a:lnRef idx="0"/>
          <a:fillRef idx="0"/>
          <a:effectRef idx="0"/>
          <a:fontRef idx="minor"/>
        </p:style>
        <p:txBody>
          <a:bodyPr lIns="90000" tIns="45000" rIns="90000" bIns="45000" anchor="t" anchorCtr="1">
            <a:spAutoFit/>
          </a:bodyPr>
          <a:p>
            <a:pPr algn="ctr">
              <a:lnSpc>
                <a:spcPct val="100000"/>
              </a:lnSpc>
              <a:spcBef>
                <a:spcPts val="1191"/>
              </a:spcBef>
              <a:spcAft>
                <a:spcPts val="992"/>
              </a:spcAft>
            </a:pPr>
            <a:r>
              <a:rPr lang="pl-PL" sz="1500" b="0" u="none" strike="noStrike">
                <a:solidFill>
                  <a:srgbClr val="000000"/>
                </a:solidFill>
                <a:effectLst/>
                <a:uFillTx/>
                <a:latin typeface="Arial"/>
                <a:ea typeface="DejaVu Sans"/>
              </a:rPr>
              <a:t>The performance and robustness of Vanadis come from the coupling of these components, not from any single technique alone. </a:t>
            </a:r>
            <a:endParaRPr lang="pl-PL" sz="1500" b="0" u="none" strike="noStrike">
              <a:solidFill>
                <a:srgbClr val="FFFFFF"/>
              </a:solidFill>
              <a:effectLst/>
              <a:uFillTx/>
              <a:latin typeface="Arial"/>
            </a:endParaRPr>
          </a:p>
        </p:txBody>
      </p:sp>
      <p:sp>
        <p:nvSpPr>
          <p:cNvPr id="75" name=""/>
          <p:cNvSpPr/>
          <p:nvPr/>
        </p:nvSpPr>
        <p:spPr>
          <a:xfrm>
            <a:off x="1284120" y="1394640"/>
            <a:ext cx="1648800" cy="36468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pl-PL" sz="1800" b="1" u="none" strike="noStrike">
                <a:solidFill>
                  <a:srgbClr val="FFFFFF"/>
                </a:solidFill>
                <a:effectLst/>
                <a:uFillTx/>
                <a:latin typeface="Arial"/>
                <a:ea typeface="DejaVu Sans"/>
              </a:rPr>
              <a:t>NUMERICS</a:t>
            </a:r>
            <a:r>
              <a:rPr lang="pl-PL" sz="1000" b="1" u="none" strike="noStrike">
                <a:solidFill>
                  <a:srgbClr val="FFFFFF"/>
                </a:solidFill>
                <a:effectLst/>
                <a:uFillTx/>
                <a:latin typeface="Arial"/>
                <a:ea typeface="DejaVu Sans"/>
              </a:rPr>
              <a:t> </a:t>
            </a:r>
            <a:endParaRPr lang="pl-PL" sz="1000" b="0" u="none" strike="noStrike">
              <a:solidFill>
                <a:srgbClr val="FFFFFF"/>
              </a:solidFill>
              <a:effectLst/>
              <a:uFillTx/>
              <a:latin typeface="Arial"/>
            </a:endParaRPr>
          </a:p>
        </p:txBody>
      </p:sp>
      <p:sp>
        <p:nvSpPr>
          <p:cNvPr id="76" name=""/>
          <p:cNvSpPr/>
          <p:nvPr/>
        </p:nvSpPr>
        <p:spPr>
          <a:xfrm>
            <a:off x="5818680" y="1449360"/>
            <a:ext cx="1027440" cy="36468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pl-PL" sz="1800" b="1" u="none" strike="noStrike">
                <a:solidFill>
                  <a:srgbClr val="FFFFFF"/>
                </a:solidFill>
                <a:effectLst/>
                <a:uFillTx/>
                <a:latin typeface="Arial"/>
                <a:ea typeface="DejaVu Sans"/>
              </a:rPr>
              <a:t>HPC</a:t>
            </a:r>
            <a:r>
              <a:rPr lang="pl-PL" sz="1000" b="0" u="none" strike="noStrike">
                <a:solidFill>
                  <a:srgbClr val="FFFFFF"/>
                </a:solidFill>
                <a:effectLst/>
                <a:uFillTx/>
                <a:latin typeface="Arial"/>
                <a:ea typeface="DejaVu Sans"/>
              </a:rPr>
              <a:t> </a:t>
            </a:r>
            <a:endParaRPr lang="pl-PL" sz="1000" b="0" u="none" strike="noStrike">
              <a:solidFill>
                <a:srgbClr val="FFFFFF"/>
              </a:solidFill>
              <a:effectLst/>
              <a:uFillTx/>
              <a:latin typeface="Arial"/>
            </a:endParaRPr>
          </a:p>
        </p:txBody>
      </p:sp>
      <p:sp>
        <p:nvSpPr>
          <p:cNvPr id="77" name=""/>
          <p:cNvSpPr/>
          <p:nvPr/>
        </p:nvSpPr>
        <p:spPr>
          <a:xfrm>
            <a:off x="1284120" y="1891080"/>
            <a:ext cx="2051640" cy="1361880"/>
          </a:xfrm>
          <a:prstGeom prst="rect">
            <a:avLst/>
          </a:prstGeom>
          <a:noFill/>
          <a:ln w="0">
            <a:noFill/>
          </a:ln>
        </p:spPr>
        <p:style>
          <a:lnRef idx="0"/>
          <a:fillRef idx="0"/>
          <a:effectRef idx="0"/>
          <a:fontRef idx="minor"/>
        </p:style>
        <p:txBody>
          <a:bodyPr wrap="none" lIns="90000" tIns="45000" rIns="90000" bIns="45000" anchor="t">
            <a:spAutoFit/>
          </a:bodyPr>
          <a:p>
            <a:pPr>
              <a:lnSpc>
                <a:spcPct val="100000"/>
              </a:lnSpc>
              <a:spcBef>
                <a:spcPts val="57"/>
              </a:spcBef>
            </a:pPr>
            <a:r>
              <a:rPr lang="pl-PL" sz="1000" b="1" u="none" strike="noStrike">
                <a:solidFill>
                  <a:srgbClr val="000000"/>
                </a:solidFill>
                <a:effectLst/>
                <a:uFillTx/>
                <a:latin typeface="Arial"/>
                <a:ea typeface="Microsoft YaHei"/>
              </a:rPr>
              <a:t>Directional Residual (DR)</a:t>
            </a:r>
            <a:endParaRPr lang="pl-PL" sz="1000" b="0" u="none" strike="noStrike">
              <a:solidFill>
                <a:srgbClr val="FFFFFF"/>
              </a:solidFill>
              <a:effectLst/>
              <a:uFillTx/>
              <a:latin typeface="Arial"/>
            </a:endParaRPr>
          </a:p>
          <a:p>
            <a:pPr>
              <a:lnSpc>
                <a:spcPct val="100000"/>
              </a:lnSpc>
              <a:spcBef>
                <a:spcPts val="57"/>
              </a:spcBef>
            </a:pPr>
            <a:r>
              <a:rPr lang="pl-PL" sz="1000" b="0" i="1" u="none" strike="noStrike">
                <a:solidFill>
                  <a:srgbClr val="000000"/>
                </a:solidFill>
                <a:effectLst/>
                <a:uFillTx/>
                <a:latin typeface="Arial"/>
                <a:ea typeface="Microsoft YaHei"/>
              </a:rPr>
              <a:t>local flow-directed stabilisation</a:t>
            </a:r>
            <a:endParaRPr lang="pl-PL" sz="1000" b="0" u="none" strike="noStrike">
              <a:solidFill>
                <a:srgbClr val="FFFFFF"/>
              </a:solidFill>
              <a:effectLst/>
              <a:uFillTx/>
              <a:latin typeface="Arial"/>
            </a:endParaRPr>
          </a:p>
          <a:p>
            <a:pPr>
              <a:lnSpc>
                <a:spcPct val="100000"/>
              </a:lnSpc>
              <a:spcBef>
                <a:spcPts val="57"/>
              </a:spcBef>
            </a:pPr>
            <a:endParaRPr lang="pl-PL" sz="1000" b="0" u="none" strike="noStrike">
              <a:solidFill>
                <a:srgbClr val="FFFFFF"/>
              </a:solidFill>
              <a:effectLst/>
              <a:uFillTx/>
              <a:latin typeface="Arial"/>
            </a:endParaRPr>
          </a:p>
          <a:p>
            <a:pPr>
              <a:lnSpc>
                <a:spcPct val="100000"/>
              </a:lnSpc>
              <a:spcBef>
                <a:spcPts val="57"/>
              </a:spcBef>
            </a:pPr>
            <a:r>
              <a:rPr lang="pl-PL" sz="1000" b="1" u="none" strike="noStrike">
                <a:solidFill>
                  <a:srgbClr val="000000"/>
                </a:solidFill>
                <a:effectLst/>
                <a:uFillTx/>
                <a:latin typeface="Arial"/>
                <a:ea typeface="Microsoft YaHei"/>
              </a:rPr>
              <a:t>Implicit θ=2/3 transient scheme</a:t>
            </a:r>
            <a:endParaRPr lang="pl-PL" sz="1000" b="0" u="none" strike="noStrike">
              <a:solidFill>
                <a:srgbClr val="FFFFFF"/>
              </a:solidFill>
              <a:effectLst/>
              <a:uFillTx/>
              <a:latin typeface="Arial"/>
            </a:endParaRPr>
          </a:p>
          <a:p>
            <a:pPr>
              <a:lnSpc>
                <a:spcPct val="100000"/>
              </a:lnSpc>
              <a:spcBef>
                <a:spcPts val="57"/>
              </a:spcBef>
            </a:pPr>
            <a:r>
              <a:rPr lang="pl-PL" sz="1000" b="0" i="1" u="none" strike="noStrike">
                <a:solidFill>
                  <a:srgbClr val="000000"/>
                </a:solidFill>
                <a:effectLst/>
                <a:uFillTx/>
                <a:latin typeface="Arial"/>
                <a:ea typeface="Microsoft YaHei"/>
              </a:rPr>
              <a:t>DR-weighted transient matrix</a:t>
            </a:r>
            <a:endParaRPr lang="pl-PL" sz="1000" b="0" u="none" strike="noStrike">
              <a:solidFill>
                <a:srgbClr val="FFFFFF"/>
              </a:solidFill>
              <a:effectLst/>
              <a:uFillTx/>
              <a:latin typeface="Arial"/>
            </a:endParaRPr>
          </a:p>
          <a:p>
            <a:pPr>
              <a:lnSpc>
                <a:spcPct val="100000"/>
              </a:lnSpc>
              <a:spcBef>
                <a:spcPts val="57"/>
              </a:spcBef>
            </a:pPr>
            <a:endParaRPr lang="pl-PL" sz="1000" b="0" u="none" strike="noStrike">
              <a:solidFill>
                <a:srgbClr val="FFFFFF"/>
              </a:solidFill>
              <a:effectLst/>
              <a:uFillTx/>
              <a:latin typeface="Arial"/>
            </a:endParaRPr>
          </a:p>
          <a:p>
            <a:pPr>
              <a:lnSpc>
                <a:spcPct val="100000"/>
              </a:lnSpc>
              <a:spcBef>
                <a:spcPts val="57"/>
              </a:spcBef>
            </a:pPr>
            <a:r>
              <a:rPr lang="pl-PL" sz="1000" b="1" u="none" strike="noStrike">
                <a:solidFill>
                  <a:srgbClr val="000000"/>
                </a:solidFill>
                <a:effectLst/>
                <a:uFillTx/>
                <a:latin typeface="Arial"/>
                <a:ea typeface="Microsoft YaHei"/>
              </a:rPr>
              <a:t>Element-by-Element (EbE)</a:t>
            </a:r>
            <a:endParaRPr lang="pl-PL" sz="1000" b="0" u="none" strike="noStrike">
              <a:solidFill>
                <a:srgbClr val="FFFFFF"/>
              </a:solidFill>
              <a:effectLst/>
              <a:uFillTx/>
              <a:latin typeface="Arial"/>
            </a:endParaRPr>
          </a:p>
          <a:p>
            <a:pPr>
              <a:lnSpc>
                <a:spcPct val="100000"/>
              </a:lnSpc>
              <a:spcBef>
                <a:spcPts val="57"/>
              </a:spcBef>
            </a:pPr>
            <a:r>
              <a:rPr lang="pl-PL" sz="1000" b="0" i="1" u="none" strike="noStrike">
                <a:solidFill>
                  <a:srgbClr val="000000"/>
                </a:solidFill>
                <a:effectLst/>
                <a:uFillTx/>
                <a:latin typeface="Arial"/>
                <a:ea typeface="Microsoft YaHei"/>
              </a:rPr>
              <a:t>low-memory local operators</a:t>
            </a:r>
            <a:endParaRPr lang="pl-PL" sz="1000" b="0" u="none" strike="noStrike">
              <a:solidFill>
                <a:srgbClr val="FFFFFF"/>
              </a:solidFill>
              <a:effectLst/>
              <a:uFillTx/>
              <a:latin typeface="Arial"/>
            </a:endParaRPr>
          </a:p>
        </p:txBody>
      </p:sp>
      <p:sp>
        <p:nvSpPr>
          <p:cNvPr id="78" name=""/>
          <p:cNvSpPr/>
          <p:nvPr/>
        </p:nvSpPr>
        <p:spPr>
          <a:xfrm>
            <a:off x="5860080" y="1877760"/>
            <a:ext cx="2985120" cy="1125000"/>
          </a:xfrm>
          <a:prstGeom prst="rect">
            <a:avLst/>
          </a:prstGeom>
          <a:noFill/>
          <a:ln w="0">
            <a:noFill/>
          </a:ln>
        </p:spPr>
        <p:style>
          <a:lnRef idx="0"/>
          <a:fillRef idx="0"/>
          <a:effectRef idx="0"/>
          <a:fontRef idx="minor"/>
        </p:style>
        <p:txBody>
          <a:bodyPr wrap="none" lIns="90000" tIns="45000" rIns="90000" bIns="45000" anchor="t">
            <a:spAutoFit/>
          </a:bodyPr>
          <a:p>
            <a:pPr>
              <a:lnSpc>
                <a:spcPct val="100000"/>
              </a:lnSpc>
              <a:spcBef>
                <a:spcPts val="57"/>
              </a:spcBef>
            </a:pPr>
            <a:r>
              <a:rPr lang="pl-PL" sz="1000" b="1" u="none" strike="noStrike">
                <a:solidFill>
                  <a:srgbClr val="000000"/>
                </a:solidFill>
                <a:effectLst/>
                <a:uFillTx/>
                <a:latin typeface="Arial"/>
                <a:ea typeface="Microsoft YaHei"/>
              </a:rPr>
              <a:t>OpenMP CPU</a:t>
            </a:r>
            <a:endParaRPr lang="pl-PL" sz="1000" b="0" u="none" strike="noStrike">
              <a:solidFill>
                <a:srgbClr val="FFFFFF"/>
              </a:solidFill>
              <a:effectLst/>
              <a:uFillTx/>
              <a:latin typeface="Arial"/>
            </a:endParaRPr>
          </a:p>
          <a:p>
            <a:pPr>
              <a:lnSpc>
                <a:spcPct val="100000"/>
              </a:lnSpc>
              <a:spcBef>
                <a:spcPts val="57"/>
              </a:spcBef>
            </a:pPr>
            <a:r>
              <a:rPr lang="pl-PL" sz="1000" b="0" i="1" u="none" strike="noStrike">
                <a:solidFill>
                  <a:srgbClr val="000000"/>
                </a:solidFill>
                <a:effectLst/>
                <a:uFillTx/>
                <a:latin typeface="Arial"/>
                <a:ea typeface="Microsoft YaHei"/>
              </a:rPr>
              <a:t>parallel element assembly</a:t>
            </a:r>
            <a:endParaRPr lang="pl-PL" sz="1000" b="0" u="none" strike="noStrike">
              <a:solidFill>
                <a:srgbClr val="FFFFFF"/>
              </a:solidFill>
              <a:effectLst/>
              <a:uFillTx/>
              <a:latin typeface="Arial"/>
            </a:endParaRPr>
          </a:p>
          <a:p>
            <a:pPr>
              <a:lnSpc>
                <a:spcPct val="100000"/>
              </a:lnSpc>
              <a:spcBef>
                <a:spcPts val="57"/>
              </a:spcBef>
            </a:pPr>
            <a:endParaRPr lang="pl-PL" sz="1000" b="0" u="none" strike="noStrike">
              <a:solidFill>
                <a:srgbClr val="FFFFFF"/>
              </a:solidFill>
              <a:effectLst/>
              <a:uFillTx/>
              <a:latin typeface="Arial"/>
            </a:endParaRPr>
          </a:p>
          <a:p>
            <a:pPr>
              <a:lnSpc>
                <a:spcPct val="100000"/>
              </a:lnSpc>
            </a:pPr>
            <a:r>
              <a:rPr lang="pl-PL" sz="1000" b="1" u="none" strike="noStrike">
                <a:solidFill>
                  <a:srgbClr val="000000"/>
                </a:solidFill>
                <a:effectLst/>
                <a:uFillTx/>
                <a:latin typeface="Arial"/>
                <a:ea typeface="Microsoft YaHei"/>
              </a:rPr>
              <a:t>CUDA GPU + DBCG</a:t>
            </a:r>
            <a:endParaRPr lang="pl-PL" sz="1000" b="0" u="none" strike="noStrike">
              <a:solidFill>
                <a:srgbClr val="FFFFFF"/>
              </a:solidFill>
              <a:effectLst/>
              <a:uFillTx/>
              <a:latin typeface="Arial"/>
            </a:endParaRPr>
          </a:p>
          <a:p>
            <a:pPr>
              <a:lnSpc>
                <a:spcPct val="100000"/>
              </a:lnSpc>
              <a:spcBef>
                <a:spcPts val="340"/>
              </a:spcBef>
              <a:spcAft>
                <a:spcPts val="142"/>
              </a:spcAft>
            </a:pPr>
            <a:r>
              <a:rPr lang="pl-PL" sz="1000" b="0" i="1" u="none" strike="noStrike">
                <a:solidFill>
                  <a:srgbClr val="000000"/>
                </a:solidFill>
                <a:effectLst/>
                <a:uFillTx/>
                <a:latin typeface="Arial"/>
                <a:ea typeface="Microsoft YaHei"/>
              </a:rPr>
              <a:t>single-GPU solution for multi-million-node meshes</a:t>
            </a:r>
            <a:endParaRPr lang="pl-PL" sz="1000" b="0" u="none" strike="noStrike">
              <a:solidFill>
                <a:srgbClr val="FFFFFF"/>
              </a:solidFill>
              <a:effectLst/>
              <a:uFillTx/>
              <a:latin typeface="Arial"/>
            </a:endParaRPr>
          </a:p>
          <a:p>
            <a:pPr>
              <a:lnSpc>
                <a:spcPct val="100000"/>
              </a:lnSpc>
              <a:spcBef>
                <a:spcPts val="340"/>
              </a:spcBef>
              <a:spcAft>
                <a:spcPts val="142"/>
              </a:spcAft>
            </a:pPr>
            <a:r>
              <a:rPr lang="pl-PL" sz="1000" b="0" i="1" u="none" strike="noStrike">
                <a:solidFill>
                  <a:srgbClr val="000000"/>
                </a:solidFill>
                <a:effectLst/>
                <a:uFillTx/>
                <a:latin typeface="Arial"/>
                <a:ea typeface="Microsoft YaHei"/>
              </a:rPr>
              <a:t>reduced data-transfer overhead </a:t>
            </a:r>
            <a:endParaRPr lang="pl-PL" sz="1000" b="0" u="none" strike="noStrike">
              <a:solidFill>
                <a:srgbClr val="FFFFFF"/>
              </a:solidFill>
              <a:effectLst/>
              <a:uFillTx/>
              <a:latin typeface="Arial"/>
            </a:endParaRPr>
          </a:p>
        </p:txBody>
      </p:sp>
      <p:sp>
        <p:nvSpPr>
          <p:cNvPr id="79" name=""/>
          <p:cNvSpPr txBox="1"/>
          <p:nvPr/>
        </p:nvSpPr>
        <p:spPr>
          <a:xfrm>
            <a:off x="2512080" y="803520"/>
            <a:ext cx="5022000" cy="232200"/>
          </a:xfrm>
          <a:prstGeom prst="rect">
            <a:avLst/>
          </a:prstGeom>
          <a:noFill/>
          <a:ln w="0">
            <a:noFill/>
          </a:ln>
        </p:spPr>
        <p:txBody>
          <a:bodyPr wrap="none" lIns="90000" tIns="45000" rIns="90000" bIns="45000" anchor="t">
            <a:spAutoFit/>
          </a:bodyPr>
          <a:p>
            <a:pPr>
              <a:spcBef>
                <a:spcPts val="1191"/>
              </a:spcBef>
              <a:spcAft>
                <a:spcPts val="992"/>
              </a:spcAft>
            </a:pPr>
            <a:r>
              <a:rPr lang="pl-PL" sz="1000" b="0" u="none" strike="noStrike">
                <a:solidFill>
                  <a:srgbClr val="FFFFFF"/>
                </a:solidFill>
                <a:effectLst/>
                <a:uFillTx/>
                <a:latin typeface="Arial"/>
              </a:rPr>
              <a:t>Vanadis: scalable HPC — from a low-cost GPU PC to a high-performance workstation </a:t>
            </a:r>
            <a:endParaRPr lang="pl-PL" sz="10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pic>
        <p:nvPicPr>
          <p:cNvPr id="80" name="">
            <a:hlinkClick r:id="rId2"/>
          </p:cNvPr>
          <p:cNvPicPr/>
          <p:nvPr/>
        </p:nvPicPr>
        <p:blipFill>
          <a:blip r:embed="rId3"/>
          <a:stretch/>
        </p:blipFill>
        <p:spPr>
          <a:xfrm>
            <a:off x="8558640" y="4239360"/>
            <a:ext cx="1159920" cy="1159920"/>
          </a:xfrm>
          <a:prstGeom prst="rect">
            <a:avLst/>
          </a:prstGeom>
          <a:noFill/>
          <a:ln w="0">
            <a:noFill/>
          </a:ln>
        </p:spPr>
      </p:pic>
      <p:sp>
        <p:nvSpPr>
          <p:cNvPr id="81" name=""/>
          <p:cNvSpPr/>
          <p:nvPr/>
        </p:nvSpPr>
        <p:spPr>
          <a:xfrm>
            <a:off x="1290600" y="1559880"/>
            <a:ext cx="6570000" cy="69984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pl-PL" sz="4000" b="0" u="none" strike="noStrike">
                <a:solidFill>
                  <a:srgbClr val="FFFFFF"/>
                </a:solidFill>
                <a:effectLst/>
                <a:uFillTx/>
                <a:latin typeface="Arial"/>
                <a:ea typeface="DejaVu Sans"/>
              </a:rPr>
              <a:t>Thank you for your attention</a:t>
            </a:r>
            <a:endParaRPr lang="pl-PL" sz="4000" b="0" u="none" strike="noStrike">
              <a:solidFill>
                <a:srgbClr val="FFFFFF"/>
              </a:solidFill>
              <a:effectLst/>
              <a:uFillTx/>
              <a:latin typeface="Arial"/>
            </a:endParaRPr>
          </a:p>
        </p:txBody>
      </p:sp>
      <p:sp>
        <p:nvSpPr>
          <p:cNvPr id="82" name=""/>
          <p:cNvSpPr/>
          <p:nvPr/>
        </p:nvSpPr>
        <p:spPr>
          <a:xfrm>
            <a:off x="904320" y="4465440"/>
            <a:ext cx="5440680" cy="639000"/>
          </a:xfrm>
          <a:prstGeom prst="rect">
            <a:avLst/>
          </a:prstGeom>
          <a:noFill/>
          <a:ln w="0">
            <a:noFill/>
          </a:ln>
        </p:spPr>
        <p:style>
          <a:lnRef idx="0"/>
          <a:fillRef idx="0"/>
          <a:effectRef idx="0"/>
          <a:fontRef idx="minor"/>
        </p:style>
        <p:txBody>
          <a:bodyPr wrap="none" lIns="90000" tIns="45000" rIns="90000" bIns="45000" anchor="t">
            <a:spAutoFit/>
          </a:bodyPr>
          <a:p>
            <a:pPr>
              <a:lnSpc>
                <a:spcPct val="100000"/>
              </a:lnSpc>
            </a:pPr>
            <a:r>
              <a:rPr lang="pl-PL" sz="1200" b="0" u="none" strike="noStrike">
                <a:solidFill>
                  <a:srgbClr val="000000"/>
                </a:solidFill>
                <a:effectLst/>
                <a:uFillTx/>
                <a:latin typeface="Arial"/>
                <a:ea typeface="Microsoft YaHei"/>
              </a:rPr>
              <a:t>Homepage:</a:t>
            </a:r>
            <a:r>
              <a:rPr lang="pl-PL" sz="1200" b="0" u="none" strike="noStrike">
                <a:solidFill>
                  <a:srgbClr val="000000"/>
                </a:solidFill>
                <a:effectLst/>
                <a:uFillTx/>
                <a:latin typeface="Arial"/>
                <a:ea typeface="Microsoft YaHei"/>
              </a:rPr>
              <a:t>	</a:t>
            </a:r>
            <a:r>
              <a:rPr lang="pl-PL" sz="1200" b="0" u="none" strike="noStrike">
                <a:solidFill>
                  <a:srgbClr val="000000"/>
                </a:solidFill>
                <a:effectLst/>
                <a:uFillTx/>
                <a:latin typeface="Arial"/>
                <a:ea typeface="Microsoft YaHei"/>
              </a:rPr>
              <a:t>https://marek-ac.meri.pl/  </a:t>
            </a:r>
            <a:endParaRPr lang="pl-PL" sz="1200" b="0" u="none" strike="noStrike">
              <a:solidFill>
                <a:srgbClr val="FFFFFF"/>
              </a:solidFill>
              <a:effectLst/>
              <a:uFillTx/>
              <a:latin typeface="Arial"/>
            </a:endParaRPr>
          </a:p>
          <a:p>
            <a:pPr>
              <a:lnSpc>
                <a:spcPct val="100000"/>
              </a:lnSpc>
            </a:pPr>
            <a:r>
              <a:rPr lang="pl-PL" sz="1200" b="0" u="none" strike="noStrike">
                <a:solidFill>
                  <a:srgbClr val="000000"/>
                </a:solidFill>
                <a:effectLst/>
                <a:uFillTx/>
                <a:latin typeface="Arial"/>
                <a:ea typeface="Microsoft YaHei"/>
              </a:rPr>
              <a:t>DOI:</a:t>
            </a:r>
            <a:r>
              <a:rPr lang="pl-PL" sz="1200" b="0" u="none" strike="noStrike">
                <a:solidFill>
                  <a:srgbClr val="000000"/>
                </a:solidFill>
                <a:effectLst/>
                <a:uFillTx/>
                <a:latin typeface="Arial"/>
                <a:ea typeface="Microsoft YaHei"/>
              </a:rPr>
              <a:t>	</a:t>
            </a:r>
            <a:r>
              <a:rPr lang="pl-PL" sz="1200" b="0" u="none" strike="noStrike">
                <a:solidFill>
                  <a:srgbClr val="000000"/>
                </a:solidFill>
                <a:effectLst/>
                <a:uFillTx/>
                <a:latin typeface="Arial"/>
                <a:ea typeface="Microsoft YaHei"/>
              </a:rPr>
              <a:t>https://doi.org/10.5281/zenodo.22016556</a:t>
            </a:r>
            <a:endParaRPr lang="pl-PL" sz="1200" b="0" u="none" strike="noStrike">
              <a:solidFill>
                <a:srgbClr val="FFFFFF"/>
              </a:solidFill>
              <a:effectLst/>
              <a:uFillTx/>
              <a:latin typeface="Arial"/>
            </a:endParaRPr>
          </a:p>
          <a:p>
            <a:pPr>
              <a:lnSpc>
                <a:spcPct val="100000"/>
              </a:lnSpc>
            </a:pPr>
            <a:r>
              <a:rPr lang="pl-PL" sz="1200" b="0" u="none" strike="noStrike">
                <a:solidFill>
                  <a:srgbClr val="000000"/>
                </a:solidFill>
                <a:effectLst/>
                <a:uFillTx/>
                <a:latin typeface="Arial"/>
                <a:ea typeface="Microsoft YaHei"/>
              </a:rPr>
              <a:t>GitHub:</a:t>
            </a:r>
            <a:r>
              <a:rPr lang="pl-PL" sz="1200" b="0" u="none" strike="noStrike">
                <a:solidFill>
                  <a:srgbClr val="000000"/>
                </a:solidFill>
                <a:effectLst/>
                <a:uFillTx/>
                <a:latin typeface="Arial"/>
                <a:ea typeface="Microsoft YaHei"/>
              </a:rPr>
              <a:t>	</a:t>
            </a:r>
            <a:r>
              <a:rPr lang="pl-PL" sz="1200" b="0" u="none" strike="noStrike">
                <a:solidFill>
                  <a:srgbClr val="000000"/>
                </a:solidFill>
                <a:effectLst/>
                <a:uFillTx/>
                <a:latin typeface="Arial"/>
                <a:ea typeface="Microsoft YaHei"/>
              </a:rPr>
              <a:t>https://github.com/marek-ac/vanadis_solver-directional_residual/</a:t>
            </a:r>
            <a:endParaRPr lang="pl-PL" sz="1200" b="0" u="none" strike="noStrike">
              <a:solidFill>
                <a:srgbClr val="FFFFFF"/>
              </a:solidFill>
              <a:effectLst/>
              <a:uFillTx/>
              <a:latin typeface="Arial"/>
            </a:endParaRPr>
          </a:p>
        </p:txBody>
      </p:sp>
      <p:sp>
        <p:nvSpPr>
          <p:cNvPr id="83" name=""/>
          <p:cNvSpPr/>
          <p:nvPr/>
        </p:nvSpPr>
        <p:spPr>
          <a:xfrm>
            <a:off x="921960" y="5158440"/>
            <a:ext cx="2955960" cy="364680"/>
          </a:xfrm>
          <a:prstGeom prst="rect">
            <a:avLst/>
          </a:prstGeom>
          <a:noFill/>
          <a:ln w="0">
            <a:noFill/>
          </a:ln>
        </p:spPr>
        <p:style>
          <a:lnRef idx="0"/>
          <a:fillRef idx="0"/>
          <a:effectRef idx="0"/>
          <a:fontRef idx="minor"/>
        </p:style>
        <p:txBody>
          <a:bodyPr wrap="none" lIns="90000" tIns="45000" rIns="90000" bIns="45000" anchor="t">
            <a:spAutoFit/>
          </a:bodyPr>
          <a:p>
            <a:pPr algn="ctr">
              <a:lnSpc>
                <a:spcPct val="100000"/>
              </a:lnSpc>
              <a:spcBef>
                <a:spcPts val="1191"/>
              </a:spcBef>
              <a:spcAft>
                <a:spcPts val="992"/>
              </a:spcAft>
            </a:pPr>
            <a:r>
              <a:rPr lang="pl-PL" sz="1800" b="1" u="none" strike="noStrike">
                <a:solidFill>
                  <a:srgbClr val="000000"/>
                </a:solidFill>
                <a:effectLst/>
                <a:uFillTx/>
                <a:latin typeface="Arial"/>
                <a:ea typeface="DejaVu Sans"/>
              </a:rPr>
              <a:t>E-mail:</a:t>
            </a:r>
            <a:r>
              <a:rPr lang="pl-PL" sz="1800" b="1" u="none" strike="noStrike">
                <a:solidFill>
                  <a:srgbClr val="000000"/>
                </a:solidFill>
                <a:effectLst/>
                <a:uFillTx/>
                <a:latin typeface="Arial"/>
                <a:ea typeface="DejaVu Sans"/>
              </a:rPr>
              <a:t>	</a:t>
            </a:r>
            <a:r>
              <a:rPr lang="pl-PL" sz="1800" b="1" u="none" strike="noStrike">
                <a:solidFill>
                  <a:srgbClr val="000000"/>
                </a:solidFill>
                <a:effectLst/>
                <a:uFillTx/>
                <a:latin typeface="Arial"/>
                <a:ea typeface="DejaVu Sans"/>
              </a:rPr>
              <a:t>marek_ac@wp.pl</a:t>
            </a:r>
            <a:endParaRPr lang="pl-PL" sz="1800" b="0" u="none" strike="noStrike">
              <a:solidFill>
                <a:srgbClr val="FFFFFF"/>
              </a:solidFill>
              <a:effectLst/>
              <a:uFillTx/>
              <a:latin typeface="Arial"/>
            </a:endParaRPr>
          </a:p>
        </p:txBody>
      </p:sp>
      <p:sp>
        <p:nvSpPr>
          <p:cNvPr id="84" name=""/>
          <p:cNvSpPr/>
          <p:nvPr/>
        </p:nvSpPr>
        <p:spPr>
          <a:xfrm>
            <a:off x="8511480" y="3993120"/>
            <a:ext cx="1245960" cy="227880"/>
          </a:xfrm>
          <a:prstGeom prst="rect">
            <a:avLst/>
          </a:prstGeom>
          <a:noFill/>
          <a:ln w="0">
            <a:noFill/>
          </a:ln>
        </p:spPr>
        <p:style>
          <a:lnRef idx="0"/>
          <a:fillRef idx="0"/>
          <a:effectRef idx="0"/>
          <a:fontRef idx="minor"/>
        </p:style>
        <p:txBody>
          <a:bodyPr wrap="none" lIns="90000" tIns="45000" rIns="90000" bIns="45000" anchor="t">
            <a:spAutoFit/>
          </a:bodyPr>
          <a:p>
            <a:pPr>
              <a:lnSpc>
                <a:spcPct val="100000"/>
              </a:lnSpc>
            </a:pPr>
            <a:r>
              <a:rPr lang="pl-PL" sz="900" b="0" u="none" strike="noStrike">
                <a:solidFill>
                  <a:srgbClr val="FFFFFF"/>
                </a:solidFill>
                <a:effectLst/>
                <a:uFillTx/>
                <a:latin typeface="Arial"/>
                <a:ea typeface="DejaVu Sans"/>
              </a:rPr>
              <a:t>Vanadis project page</a:t>
            </a:r>
            <a:endParaRPr lang="pl-PL" sz="900" b="0" u="none" strike="noStrike">
              <a:solidFill>
                <a:srgbClr val="FFFFFF"/>
              </a:solidFill>
              <a:effectLst/>
              <a:uFillTx/>
              <a:latin typeface="Arial"/>
            </a:endParaRPr>
          </a:p>
        </p:txBody>
      </p:sp>
      <p:pic>
        <p:nvPicPr>
          <p:cNvPr id="85" name=""/>
          <p:cNvPicPr/>
          <p:nvPr/>
        </p:nvPicPr>
        <p:blipFill>
          <a:blip r:embed="rId4"/>
          <a:stretch/>
        </p:blipFill>
        <p:spPr>
          <a:xfrm>
            <a:off x="335520" y="4515840"/>
            <a:ext cx="586800" cy="586800"/>
          </a:xfrm>
          <a:prstGeom prst="rect">
            <a:avLst/>
          </a:prstGeom>
          <a:noFill/>
          <a:ln w="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554</TotalTime>
  <Application>LibreOffice/26.8.0.3$Windows_X86_64 LibreOffice_project/bce0998afefdbc355585ca324285661a2170ba77</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2025-10-19T15:12:19Z</dcterms:created>
  <dc:creator/>
  <dc:description/>
  <dc:language>pl-PL</dc:language>
  <cp:lastModifiedBy/>
  <dcterms:modified xsi:type="dcterms:W3CDTF">2026-09-04T18:49:40Z</dcterms:modified>
  <cp:revision>125</cp:revision>
  <dc:subject/>
  <dc:title/>
</cp:coreProperties>
</file>

<file path=docProps/custom.xml><?xml version="1.0" encoding="utf-8"?>
<Properties xmlns="http://schemas.openxmlformats.org/officeDocument/2006/custom-properties" xmlns:vt="http://schemas.openxmlformats.org/officeDocument/2006/docPropsVTypes"/>
</file>